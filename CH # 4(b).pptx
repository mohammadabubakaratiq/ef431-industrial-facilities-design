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4" r:id="rId2"/>
    <p:sldId id="289" r:id="rId3"/>
    <p:sldId id="290" r:id="rId4"/>
    <p:sldId id="291" r:id="rId5"/>
    <p:sldId id="292" r:id="rId6"/>
    <p:sldId id="293" r:id="rId7"/>
    <p:sldId id="294"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3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Rehan Ashraf" userId="bf1b3b78-86b5-4a32-9cac-ca47215dcf69" providerId="ADAL" clId="{7500BF3B-28AA-436B-AD41-17F5EA664DB8}"/>
    <pc:docChg chg="undo custSel addSld delSld modSld">
      <pc:chgData name="Syed Rehan Ashraf" userId="bf1b3b78-86b5-4a32-9cac-ca47215dcf69" providerId="ADAL" clId="{7500BF3B-28AA-436B-AD41-17F5EA664DB8}" dt="2025-12-24T07:31:43.715" v="18" actId="14100"/>
      <pc:docMkLst>
        <pc:docMk/>
      </pc:docMkLst>
      <pc:sldChg chg="add del">
        <pc:chgData name="Syed Rehan Ashraf" userId="bf1b3b78-86b5-4a32-9cac-ca47215dcf69" providerId="ADAL" clId="{7500BF3B-28AA-436B-AD41-17F5EA664DB8}" dt="2025-12-23T11:56:10.379" v="6" actId="47"/>
        <pc:sldMkLst>
          <pc:docMk/>
          <pc:sldMk cId="0" sldId="282"/>
        </pc:sldMkLst>
      </pc:sldChg>
      <pc:sldChg chg="add del">
        <pc:chgData name="Syed Rehan Ashraf" userId="bf1b3b78-86b5-4a32-9cac-ca47215dcf69" providerId="ADAL" clId="{7500BF3B-28AA-436B-AD41-17F5EA664DB8}" dt="2025-12-23T11:56:10.379" v="6" actId="47"/>
        <pc:sldMkLst>
          <pc:docMk/>
          <pc:sldMk cId="0" sldId="283"/>
        </pc:sldMkLst>
      </pc:sldChg>
      <pc:sldChg chg="add del">
        <pc:chgData name="Syed Rehan Ashraf" userId="bf1b3b78-86b5-4a32-9cac-ca47215dcf69" providerId="ADAL" clId="{7500BF3B-28AA-436B-AD41-17F5EA664DB8}" dt="2025-12-23T11:55:56.575" v="5" actId="47"/>
        <pc:sldMkLst>
          <pc:docMk/>
          <pc:sldMk cId="0" sldId="284"/>
        </pc:sldMkLst>
      </pc:sldChg>
      <pc:sldChg chg="add del">
        <pc:chgData name="Syed Rehan Ashraf" userId="bf1b3b78-86b5-4a32-9cac-ca47215dcf69" providerId="ADAL" clId="{7500BF3B-28AA-436B-AD41-17F5EA664DB8}" dt="2025-12-23T11:56:10.379" v="6" actId="47"/>
        <pc:sldMkLst>
          <pc:docMk/>
          <pc:sldMk cId="0" sldId="285"/>
        </pc:sldMkLst>
      </pc:sldChg>
      <pc:sldChg chg="add del">
        <pc:chgData name="Syed Rehan Ashraf" userId="bf1b3b78-86b5-4a32-9cac-ca47215dcf69" providerId="ADAL" clId="{7500BF3B-28AA-436B-AD41-17F5EA664DB8}" dt="2025-12-23T11:56:10.379" v="6" actId="47"/>
        <pc:sldMkLst>
          <pc:docMk/>
          <pc:sldMk cId="0" sldId="286"/>
        </pc:sldMkLst>
      </pc:sldChg>
      <pc:sldChg chg="add del">
        <pc:chgData name="Syed Rehan Ashraf" userId="bf1b3b78-86b5-4a32-9cac-ca47215dcf69" providerId="ADAL" clId="{7500BF3B-28AA-436B-AD41-17F5EA664DB8}" dt="2025-12-23T11:56:10.379" v="6" actId="47"/>
        <pc:sldMkLst>
          <pc:docMk/>
          <pc:sldMk cId="0" sldId="287"/>
        </pc:sldMkLst>
      </pc:sldChg>
      <pc:sldChg chg="add del">
        <pc:chgData name="Syed Rehan Ashraf" userId="bf1b3b78-86b5-4a32-9cac-ca47215dcf69" providerId="ADAL" clId="{7500BF3B-28AA-436B-AD41-17F5EA664DB8}" dt="2025-12-23T11:56:10.379" v="6" actId="47"/>
        <pc:sldMkLst>
          <pc:docMk/>
          <pc:sldMk cId="0" sldId="288"/>
        </pc:sldMkLst>
      </pc:sldChg>
      <pc:sldChg chg="add del">
        <pc:chgData name="Syed Rehan Ashraf" userId="bf1b3b78-86b5-4a32-9cac-ca47215dcf69" providerId="ADAL" clId="{7500BF3B-28AA-436B-AD41-17F5EA664DB8}" dt="2025-12-23T11:55:56.575" v="5" actId="47"/>
        <pc:sldMkLst>
          <pc:docMk/>
          <pc:sldMk cId="0" sldId="289"/>
        </pc:sldMkLst>
      </pc:sldChg>
      <pc:sldChg chg="add del">
        <pc:chgData name="Syed Rehan Ashraf" userId="bf1b3b78-86b5-4a32-9cac-ca47215dcf69" providerId="ADAL" clId="{7500BF3B-28AA-436B-AD41-17F5EA664DB8}" dt="2025-12-23T11:55:56.575" v="5" actId="47"/>
        <pc:sldMkLst>
          <pc:docMk/>
          <pc:sldMk cId="0" sldId="290"/>
        </pc:sldMkLst>
      </pc:sldChg>
      <pc:sldChg chg="add del">
        <pc:chgData name="Syed Rehan Ashraf" userId="bf1b3b78-86b5-4a32-9cac-ca47215dcf69" providerId="ADAL" clId="{7500BF3B-28AA-436B-AD41-17F5EA664DB8}" dt="2025-12-23T11:55:56.575" v="5" actId="47"/>
        <pc:sldMkLst>
          <pc:docMk/>
          <pc:sldMk cId="0" sldId="291"/>
        </pc:sldMkLst>
      </pc:sldChg>
      <pc:sldChg chg="add del">
        <pc:chgData name="Syed Rehan Ashraf" userId="bf1b3b78-86b5-4a32-9cac-ca47215dcf69" providerId="ADAL" clId="{7500BF3B-28AA-436B-AD41-17F5EA664DB8}" dt="2025-12-23T11:55:56.575" v="5" actId="47"/>
        <pc:sldMkLst>
          <pc:docMk/>
          <pc:sldMk cId="0" sldId="292"/>
        </pc:sldMkLst>
      </pc:sldChg>
      <pc:sldChg chg="modSp mod">
        <pc:chgData name="Syed Rehan Ashraf" userId="bf1b3b78-86b5-4a32-9cac-ca47215dcf69" providerId="ADAL" clId="{7500BF3B-28AA-436B-AD41-17F5EA664DB8}" dt="2025-12-23T11:55:56.243" v="4"/>
        <pc:sldMkLst>
          <pc:docMk/>
          <pc:sldMk cId="0" sldId="293"/>
        </pc:sldMkLst>
        <pc:spChg chg="mod">
          <ac:chgData name="Syed Rehan Ashraf" userId="bf1b3b78-86b5-4a32-9cac-ca47215dcf69" providerId="ADAL" clId="{7500BF3B-28AA-436B-AD41-17F5EA664DB8}" dt="2025-12-23T11:55:56.243" v="4"/>
          <ac:spMkLst>
            <pc:docMk/>
            <pc:sldMk cId="0" sldId="293"/>
            <ac:spMk id="3" creationId="{00000000-0000-0000-0000-000000000000}"/>
          </ac:spMkLst>
        </pc:spChg>
      </pc:sldChg>
      <pc:sldChg chg="addSp delSp modSp new mod">
        <pc:chgData name="Syed Rehan Ashraf" userId="bf1b3b78-86b5-4a32-9cac-ca47215dcf69" providerId="ADAL" clId="{7500BF3B-28AA-436B-AD41-17F5EA664DB8}" dt="2025-12-24T07:31:43.715" v="18" actId="14100"/>
        <pc:sldMkLst>
          <pc:docMk/>
          <pc:sldMk cId="4192508159" sldId="294"/>
        </pc:sldMkLst>
        <pc:spChg chg="del">
          <ac:chgData name="Syed Rehan Ashraf" userId="bf1b3b78-86b5-4a32-9cac-ca47215dcf69" providerId="ADAL" clId="{7500BF3B-28AA-436B-AD41-17F5EA664DB8}" dt="2025-12-24T07:31:25.201" v="8" actId="478"/>
          <ac:spMkLst>
            <pc:docMk/>
            <pc:sldMk cId="4192508159" sldId="294"/>
            <ac:spMk id="2" creationId="{1BE2A6C5-B47E-4ECD-AF2B-D3E882081AD3}"/>
          </ac:spMkLst>
        </pc:spChg>
        <pc:spChg chg="del">
          <ac:chgData name="Syed Rehan Ashraf" userId="bf1b3b78-86b5-4a32-9cac-ca47215dcf69" providerId="ADAL" clId="{7500BF3B-28AA-436B-AD41-17F5EA664DB8}" dt="2025-12-24T07:31:26.410" v="9" actId="478"/>
          <ac:spMkLst>
            <pc:docMk/>
            <pc:sldMk cId="4192508159" sldId="294"/>
            <ac:spMk id="3" creationId="{CF3BBA0D-0D38-4F6C-9608-BC489FA423BD}"/>
          </ac:spMkLst>
        </pc:spChg>
        <pc:picChg chg="add mod">
          <ac:chgData name="Syed Rehan Ashraf" userId="bf1b3b78-86b5-4a32-9cac-ca47215dcf69" providerId="ADAL" clId="{7500BF3B-28AA-436B-AD41-17F5EA664DB8}" dt="2025-12-24T07:31:43.715" v="18" actId="14100"/>
          <ac:picMkLst>
            <pc:docMk/>
            <pc:sldMk cId="4192508159" sldId="294"/>
            <ac:picMk id="5" creationId="{1D427B84-ADF6-4D03-9F8A-9F599123669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5E44E4E-9228-48D9-9B28-96A1CC873AC9}" type="datetimeFigureOut">
              <a:rPr lang="en-GB" smtClean="0"/>
              <a:pPr/>
              <a:t>24/12/2025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2BD52F-EBD5-4C71-9D0C-993886C6C42A}"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E44E4E-9228-48D9-9B28-96A1CC873AC9}" type="datetimeFigureOut">
              <a:rPr lang="en-GB" smtClean="0"/>
              <a:pPr/>
              <a:t>24/12/2025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2BD52F-EBD5-4C71-9D0C-993886C6C42A}"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1"/>
            <a:ext cx="7772400" cy="1143000"/>
          </a:xfrm>
        </p:spPr>
        <p:txBody>
          <a:bodyPr/>
          <a:lstStyle/>
          <a:p>
            <a:r>
              <a:rPr lang="en-US" dirty="0"/>
              <a:t>Personal Requirement</a:t>
            </a:r>
          </a:p>
        </p:txBody>
      </p:sp>
      <p:sp>
        <p:nvSpPr>
          <p:cNvPr id="3" name="Subtitle 2"/>
          <p:cNvSpPr>
            <a:spLocks noGrp="1"/>
          </p:cNvSpPr>
          <p:nvPr>
            <p:ph type="subTitle" idx="1"/>
          </p:nvPr>
        </p:nvSpPr>
        <p:spPr>
          <a:xfrm>
            <a:off x="914400" y="2971800"/>
            <a:ext cx="7543800" cy="2743200"/>
          </a:xfrm>
        </p:spPr>
        <p:txBody>
          <a:bodyPr/>
          <a:lstStyle/>
          <a:p>
            <a:r>
              <a:rPr lang="en-US" dirty="0"/>
              <a:t>CH # 4</a:t>
            </a:r>
          </a:p>
          <a:p>
            <a:r>
              <a:rPr lang="en-US" dirty="0"/>
              <a:t>(Facility System design, support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4.4. Food Services</a:t>
            </a:r>
            <a:endParaRPr lang="en-US" dirty="0"/>
          </a:p>
        </p:txBody>
      </p:sp>
      <p:sp>
        <p:nvSpPr>
          <p:cNvPr id="3" name="Content Placeholder 2"/>
          <p:cNvSpPr>
            <a:spLocks noGrp="1"/>
          </p:cNvSpPr>
          <p:nvPr>
            <p:ph idx="1"/>
          </p:nvPr>
        </p:nvSpPr>
        <p:spPr>
          <a:xfrm>
            <a:off x="457200" y="990600"/>
            <a:ext cx="8229600" cy="5638800"/>
          </a:xfrm>
        </p:spPr>
        <p:txBody>
          <a:bodyPr>
            <a:normAutofit/>
          </a:bodyPr>
          <a:lstStyle/>
          <a:p>
            <a:pPr algn="just"/>
            <a:r>
              <a:rPr lang="en-US" sz="2400" dirty="0"/>
              <a:t>Food service activities may be viewed by a firm as a necessity, a convenience, or a luxury. The viewpoint adopted, as well as a firm’s policy on off-promises dining, subsidizing the costs of meals and the amount of time allowed for meals, has a significant impact on the planning of food service facilities.</a:t>
            </a:r>
          </a:p>
          <a:p>
            <a:pPr algn="just"/>
            <a:r>
              <a:rPr lang="en-US" sz="2400" dirty="0"/>
              <a:t>Food service facilities should be planned by considering the number of employees who eat in the facilities during peak activity time. Kitchen facilities should be planned by considering the total number of meals to be served.</a:t>
            </a:r>
          </a:p>
          <a:p>
            <a:pPr algn="just"/>
            <a:r>
              <a:rPr lang="en-US" sz="2400" i="1" dirty="0"/>
              <a:t>Example:</a:t>
            </a:r>
          </a:p>
          <a:p>
            <a:pPr algn="just">
              <a:buNone/>
            </a:pPr>
            <a:r>
              <a:rPr lang="en-US" sz="2400" dirty="0"/>
              <a:t>	If a facility employ 600 people and they are to eat in three equal 30-min shifts, how much space should be planned for a cafeteria with vending machines, serving lines, or a full kitchen?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8600" y="228600"/>
            <a:ext cx="4724400" cy="32004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b="9434"/>
          <a:stretch>
            <a:fillRect/>
          </a:stretch>
        </p:blipFill>
        <p:spPr bwMode="auto">
          <a:xfrm>
            <a:off x="228600" y="3505200"/>
            <a:ext cx="4600575" cy="914400"/>
          </a:xfrm>
          <a:prstGeom prst="rect">
            <a:avLst/>
          </a:prstGeom>
          <a:noFill/>
          <a:ln w="9525">
            <a:noFill/>
            <a:miter lim="800000"/>
            <a:headEnd/>
            <a:tailEnd/>
          </a:ln>
          <a:effectLst/>
        </p:spPr>
      </p:pic>
      <p:sp>
        <p:nvSpPr>
          <p:cNvPr id="6" name="Rectangle 5"/>
          <p:cNvSpPr/>
          <p:nvPr/>
        </p:nvSpPr>
        <p:spPr>
          <a:xfrm>
            <a:off x="4953000" y="381000"/>
            <a:ext cx="4038600" cy="1477328"/>
          </a:xfrm>
          <a:prstGeom prst="rect">
            <a:avLst/>
          </a:prstGeom>
        </p:spPr>
        <p:txBody>
          <a:bodyPr wrap="square">
            <a:spAutoFit/>
          </a:bodyPr>
          <a:lstStyle/>
          <a:p>
            <a:pPr algn="just"/>
            <a:r>
              <a:rPr lang="en-US" dirty="0"/>
              <a:t>For </a:t>
            </a:r>
            <a:r>
              <a:rPr lang="en-US" b="1" u="sng" dirty="0"/>
              <a:t>vending machines </a:t>
            </a:r>
            <a:r>
              <a:rPr lang="en-US" dirty="0"/>
              <a:t>purposes 1 ft2 per person should be allowed for the vending machine area, based on the maximum number of persons eating at one time.</a:t>
            </a:r>
          </a:p>
        </p:txBody>
      </p:sp>
      <p:sp>
        <p:nvSpPr>
          <p:cNvPr id="7" name="Rectangle 6"/>
          <p:cNvSpPr/>
          <p:nvPr/>
        </p:nvSpPr>
        <p:spPr>
          <a:xfrm>
            <a:off x="5029200" y="1905000"/>
            <a:ext cx="3962400" cy="1477328"/>
          </a:xfrm>
          <a:prstGeom prst="rect">
            <a:avLst/>
          </a:prstGeom>
        </p:spPr>
        <p:txBody>
          <a:bodyPr wrap="square">
            <a:spAutoFit/>
          </a:bodyPr>
          <a:lstStyle/>
          <a:p>
            <a:pPr algn="just"/>
            <a:r>
              <a:rPr lang="en-US" dirty="0"/>
              <a:t>If a facility employs over 200 people, a </a:t>
            </a:r>
            <a:r>
              <a:rPr lang="en-US" b="1" dirty="0"/>
              <a:t>serving line </a:t>
            </a:r>
            <a:r>
              <a:rPr lang="en-US" dirty="0"/>
              <a:t>is a feasible alternative. A typical industrial service line requires 300 ft2 and can service seven employees per minute</a:t>
            </a:r>
          </a:p>
        </p:txBody>
      </p:sp>
      <p:pic>
        <p:nvPicPr>
          <p:cNvPr id="1028" name="Picture 4"/>
          <p:cNvPicPr>
            <a:picLocks noChangeAspect="1" noChangeArrowheads="1"/>
          </p:cNvPicPr>
          <p:nvPr/>
        </p:nvPicPr>
        <p:blipFill>
          <a:blip r:embed="rId4"/>
          <a:srcRect l="10959" r="14764"/>
          <a:stretch>
            <a:fillRect/>
          </a:stretch>
        </p:blipFill>
        <p:spPr bwMode="auto">
          <a:xfrm>
            <a:off x="381000" y="4495800"/>
            <a:ext cx="4648200" cy="1981200"/>
          </a:xfrm>
          <a:prstGeom prst="rect">
            <a:avLst/>
          </a:prstGeom>
          <a:noFill/>
          <a:ln w="9525">
            <a:noFill/>
            <a:miter lim="800000"/>
            <a:headEnd/>
            <a:tailEnd/>
          </a:ln>
          <a:effectLst/>
        </p:spPr>
      </p:pic>
      <p:sp>
        <p:nvSpPr>
          <p:cNvPr id="9" name="Rectangle 8"/>
          <p:cNvSpPr/>
          <p:nvPr/>
        </p:nvSpPr>
        <p:spPr>
          <a:xfrm>
            <a:off x="381000" y="6488668"/>
            <a:ext cx="5181600" cy="369332"/>
          </a:xfrm>
          <a:prstGeom prst="rect">
            <a:avLst/>
          </a:prstGeom>
        </p:spPr>
        <p:txBody>
          <a:bodyPr wrap="square">
            <a:spAutoFit/>
          </a:bodyPr>
          <a:lstStyle/>
          <a:p>
            <a:r>
              <a:rPr lang="en-US" b="1" u="sng" dirty="0"/>
              <a:t>Space required for full kitchens</a:t>
            </a:r>
          </a:p>
        </p:txBody>
      </p:sp>
      <p:pic>
        <p:nvPicPr>
          <p:cNvPr id="1029" name="Picture 5"/>
          <p:cNvPicPr>
            <a:picLocks noChangeAspect="1" noChangeArrowheads="1"/>
          </p:cNvPicPr>
          <p:nvPr/>
        </p:nvPicPr>
        <p:blipFill>
          <a:blip r:embed="rId5"/>
          <a:srcRect l="12500" r="12500"/>
          <a:stretch>
            <a:fillRect/>
          </a:stretch>
        </p:blipFill>
        <p:spPr bwMode="auto">
          <a:xfrm>
            <a:off x="4800600" y="4953000"/>
            <a:ext cx="4114800" cy="1181100"/>
          </a:xfrm>
          <a:prstGeom prst="rect">
            <a:avLst/>
          </a:prstGeom>
          <a:noFill/>
          <a:ln w="9525">
            <a:noFill/>
            <a:miter lim="800000"/>
            <a:headEnd/>
            <a:tailEnd/>
          </a:ln>
          <a:effectLst/>
        </p:spPr>
      </p:pic>
      <p:sp>
        <p:nvSpPr>
          <p:cNvPr id="11" name="Rectangle 10"/>
          <p:cNvSpPr/>
          <p:nvPr/>
        </p:nvSpPr>
        <p:spPr>
          <a:xfrm>
            <a:off x="5105400" y="6248400"/>
            <a:ext cx="3823098" cy="369332"/>
          </a:xfrm>
          <a:prstGeom prst="rect">
            <a:avLst/>
          </a:prstGeom>
        </p:spPr>
        <p:txBody>
          <a:bodyPr wrap="none">
            <a:spAutoFit/>
          </a:bodyPr>
          <a:lstStyle/>
          <a:p>
            <a:r>
              <a:rPr lang="en-US" dirty="0"/>
              <a:t>Shifting timing for 30-min lunch breaks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b="1" dirty="0"/>
              <a:t>4.5. Health Services</a:t>
            </a:r>
            <a:endParaRPr lang="en-US" dirty="0"/>
          </a:p>
        </p:txBody>
      </p:sp>
      <p:sp>
        <p:nvSpPr>
          <p:cNvPr id="3" name="Content Placeholder 2"/>
          <p:cNvSpPr>
            <a:spLocks noGrp="1"/>
          </p:cNvSpPr>
          <p:nvPr>
            <p:ph idx="1"/>
          </p:nvPr>
        </p:nvSpPr>
        <p:spPr>
          <a:xfrm>
            <a:off x="457200" y="1066800"/>
            <a:ext cx="8458200" cy="5638800"/>
          </a:xfrm>
        </p:spPr>
        <p:txBody>
          <a:bodyPr>
            <a:normAutofit/>
          </a:bodyPr>
          <a:lstStyle/>
          <a:p>
            <a:pPr algn="just"/>
            <a:r>
              <a:rPr lang="en-US" sz="2600" dirty="0"/>
              <a:t>The types of health services that may be provided within a facility include</a:t>
            </a:r>
          </a:p>
          <a:p>
            <a:pPr algn="just">
              <a:buNone/>
            </a:pPr>
            <a:r>
              <a:rPr lang="en-US" sz="2600" dirty="0"/>
              <a:t>1. Pre-employment examinations,</a:t>
            </a:r>
          </a:p>
          <a:p>
            <a:pPr algn="just">
              <a:buNone/>
            </a:pPr>
            <a:r>
              <a:rPr lang="en-US" sz="2600" dirty="0"/>
              <a:t>2. First aid treatment,</a:t>
            </a:r>
          </a:p>
          <a:p>
            <a:pPr algn="just">
              <a:buNone/>
            </a:pPr>
            <a:r>
              <a:rPr lang="en-US" sz="2600" dirty="0"/>
              <a:t>3. Major medical treatment,</a:t>
            </a:r>
          </a:p>
          <a:p>
            <a:pPr algn="just">
              <a:buNone/>
            </a:pPr>
            <a:r>
              <a:rPr lang="en-US" sz="2600" dirty="0"/>
              <a:t>4. Dental care, and</a:t>
            </a:r>
          </a:p>
          <a:p>
            <a:pPr algn="just">
              <a:buNone/>
            </a:pPr>
            <a:r>
              <a:rPr lang="en-US" sz="2600" dirty="0"/>
              <a:t>5. Treatment of illnesses.</a:t>
            </a:r>
          </a:p>
          <a:p>
            <a:pPr algn="just"/>
            <a:r>
              <a:rPr lang="en-US" sz="2600" dirty="0"/>
              <a:t>The minimal requirements for a first aid room are an approved first aid kit, a bed, and two chairs. A minimum of 100 ft2 is required. If a nurse is to be employed, the first aid room should have two beds and should be expanded to 250 ft2.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pPr algn="l"/>
            <a:r>
              <a:rPr lang="en-US" b="1" dirty="0"/>
              <a:t>4.6 Barrier-Free Compliance</a:t>
            </a:r>
            <a:endParaRPr lang="en-US" dirty="0"/>
          </a:p>
        </p:txBody>
      </p:sp>
      <p:sp>
        <p:nvSpPr>
          <p:cNvPr id="3" name="Content Placeholder 2"/>
          <p:cNvSpPr>
            <a:spLocks noGrp="1"/>
          </p:cNvSpPr>
          <p:nvPr>
            <p:ph idx="1"/>
          </p:nvPr>
        </p:nvSpPr>
        <p:spPr>
          <a:xfrm>
            <a:off x="457200" y="1066800"/>
            <a:ext cx="8458200" cy="5486400"/>
          </a:xfrm>
        </p:spPr>
        <p:txBody>
          <a:bodyPr>
            <a:normAutofit/>
          </a:bodyPr>
          <a:lstStyle/>
          <a:p>
            <a:pPr algn="just"/>
            <a:r>
              <a:rPr lang="en-US" sz="2600" dirty="0"/>
              <a:t>As per Factories Act 1934, Pakistani companies must employed Disable persons. The intent is to ensure that disabled persons shall have the same rights as the able-bodied to the full and free use of all facilities that serve the public</a:t>
            </a:r>
          </a:p>
          <a:p>
            <a:pPr algn="just"/>
            <a:r>
              <a:rPr lang="en-US" sz="2600" dirty="0"/>
              <a:t>The facilities planner must recognize that this applies to all public facility use groups:</a:t>
            </a:r>
          </a:p>
          <a:p>
            <a:pPr algn="just">
              <a:buNone/>
            </a:pPr>
            <a:r>
              <a:rPr lang="en-US" sz="2600" dirty="0"/>
              <a:t>• Assembly</a:t>
            </a:r>
          </a:p>
          <a:p>
            <a:pPr algn="just">
              <a:buNone/>
            </a:pPr>
            <a:r>
              <a:rPr lang="en-US" sz="2600" dirty="0"/>
              <a:t>• Business</a:t>
            </a:r>
          </a:p>
          <a:p>
            <a:pPr algn="just">
              <a:buNone/>
            </a:pPr>
            <a:r>
              <a:rPr lang="en-US" sz="2600" dirty="0"/>
              <a:t>• Educational</a:t>
            </a:r>
          </a:p>
          <a:p>
            <a:pPr algn="just">
              <a:buNone/>
            </a:pPr>
            <a:r>
              <a:rPr lang="en-US" sz="2600" dirty="0"/>
              <a:t>• Factories and industrial</a:t>
            </a:r>
          </a:p>
          <a:p>
            <a:pPr algn="just">
              <a:buNone/>
            </a:pPr>
            <a:r>
              <a:rPr lang="en-US" sz="2600" dirty="0"/>
              <a:t>• Institutional.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pPr algn="l"/>
            <a:r>
              <a:rPr lang="en-US" dirty="0"/>
              <a:t>4.7 Office Facility Planning</a:t>
            </a:r>
          </a:p>
        </p:txBody>
      </p:sp>
      <p:sp>
        <p:nvSpPr>
          <p:cNvPr id="3" name="Content Placeholder 2"/>
          <p:cNvSpPr>
            <a:spLocks noGrp="1"/>
          </p:cNvSpPr>
          <p:nvPr>
            <p:ph idx="1"/>
          </p:nvPr>
        </p:nvSpPr>
        <p:spPr>
          <a:xfrm>
            <a:off x="457200" y="1219200"/>
            <a:ext cx="8229600" cy="4906963"/>
          </a:xfrm>
        </p:spPr>
        <p:txBody>
          <a:bodyPr>
            <a:normAutofit/>
          </a:bodyPr>
          <a:lstStyle/>
          <a:p>
            <a:pPr algn="just"/>
            <a:r>
              <a:rPr lang="en-US" sz="2600" dirty="0"/>
              <a:t>Offices are the among the most challenging facilities to plan. One reason for the is each office employees has an option on how much space should be planned. The Important concepts to be considered is</a:t>
            </a:r>
          </a:p>
          <a:p>
            <a:pPr algn="just"/>
            <a:r>
              <a:rPr lang="en-US" sz="2600" dirty="0"/>
              <a:t>Approaches to Office Planning</a:t>
            </a:r>
          </a:p>
          <a:p>
            <a:pPr algn="just"/>
            <a:r>
              <a:rPr lang="en-US" sz="2600" dirty="0"/>
              <a:t>Area Requirement</a:t>
            </a:r>
          </a:p>
          <a:p>
            <a:pPr algn="just"/>
            <a:r>
              <a:rPr lang="en-US" sz="2600" dirty="0"/>
              <a:t>Type of Organization Matrix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427B84-ADF6-4D03-9F8A-9F599123669F}"/>
              </a:ext>
            </a:extLst>
          </p:cNvPr>
          <p:cNvPicPr>
            <a:picLocks noChangeAspect="1"/>
          </p:cNvPicPr>
          <p:nvPr/>
        </p:nvPicPr>
        <p:blipFill>
          <a:blip r:embed="rId2"/>
          <a:stretch>
            <a:fillRect/>
          </a:stretch>
        </p:blipFill>
        <p:spPr>
          <a:xfrm>
            <a:off x="1943100" y="152400"/>
            <a:ext cx="5257800" cy="6553200"/>
          </a:xfrm>
          <a:prstGeom prst="rect">
            <a:avLst/>
          </a:prstGeom>
        </p:spPr>
      </p:pic>
    </p:spTree>
    <p:extLst>
      <p:ext uri="{BB962C8B-B14F-4D97-AF65-F5344CB8AC3E}">
        <p14:creationId xmlns:p14="http://schemas.microsoft.com/office/powerpoint/2010/main" val="4192508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703</TotalTime>
  <Words>451</Words>
  <Application>Microsoft Office PowerPoint</Application>
  <PresentationFormat>On-screen Show (4:3)</PresentationFormat>
  <Paragraphs>33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Personal Requirement</vt:lpstr>
      <vt:lpstr>4.4. Food Services</vt:lpstr>
      <vt:lpstr>PowerPoint Presentation</vt:lpstr>
      <vt:lpstr>4.5. Health Services</vt:lpstr>
      <vt:lpstr>4.6 Barrier-Free Compliance</vt:lpstr>
      <vt:lpstr>4.7 Office Facility Planning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Rehan</dc:creator>
  <cp:lastModifiedBy>Syed Rehan Ashraf</cp:lastModifiedBy>
  <cp:revision>38</cp:revision>
  <dcterms:created xsi:type="dcterms:W3CDTF">2017-09-20T18:09:51Z</dcterms:created>
  <dcterms:modified xsi:type="dcterms:W3CDTF">2025-12-24T07:31:51Z</dcterms:modified>
</cp:coreProperties>
</file>