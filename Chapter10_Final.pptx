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57" r:id="rId4"/>
    <p:sldId id="258" r:id="rId5"/>
    <p:sldId id="259" r:id="rId6"/>
    <p:sldId id="264" r:id="rId7"/>
    <p:sldId id="260" r:id="rId8"/>
    <p:sldId id="261" r:id="rId9"/>
    <p:sldId id="262" r:id="rId10"/>
    <p:sldId id="266" r:id="rId11"/>
    <p:sldId id="263" r:id="rId12"/>
    <p:sldId id="268" r:id="rId13"/>
    <p:sldId id="267"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1" d="100"/>
          <a:sy n="61" d="100"/>
        </p:scale>
        <p:origin x="143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08491"/>
            <a:ext cx="7772400" cy="1470025"/>
          </a:xfrm>
        </p:spPr>
        <p:txBody>
          <a:bodyPr/>
          <a:lstStyle/>
          <a:p>
            <a:r>
              <a:rPr dirty="0"/>
              <a:t>Chapter 10 – Quantitative Facilities Planning Models</a:t>
            </a:r>
          </a:p>
        </p:txBody>
      </p:sp>
      <p:sp>
        <p:nvSpPr>
          <p:cNvPr id="3" name="Subtitle 2"/>
          <p:cNvSpPr>
            <a:spLocks noGrp="1"/>
          </p:cNvSpPr>
          <p:nvPr>
            <p:ph type="subTitle" idx="1"/>
          </p:nvPr>
        </p:nvSpPr>
        <p:spPr>
          <a:xfrm>
            <a:off x="457199" y="2317531"/>
            <a:ext cx="8387255" cy="2254469"/>
          </a:xfrm>
        </p:spPr>
        <p:txBody>
          <a:bodyPr>
            <a:normAutofit/>
          </a:bodyPr>
          <a:lstStyle/>
          <a:p>
            <a:pPr marL="457200" indent="-457200" algn="l">
              <a:buFont typeface="Arial" panose="020B0604020202020204" pitchFamily="34" charset="0"/>
              <a:buChar char="•"/>
            </a:pPr>
            <a:r>
              <a:rPr lang="en-US" dirty="0">
                <a:solidFill>
                  <a:schemeClr val="tx1"/>
                </a:solidFill>
              </a:rPr>
              <a:t>Overview of analytical models used in facility planning</a:t>
            </a:r>
          </a:p>
          <a:p>
            <a:pPr marL="457200" indent="-457200" algn="l">
              <a:buFont typeface="Arial" panose="020B0604020202020204" pitchFamily="34" charset="0"/>
              <a:buChar char="•"/>
            </a:pPr>
            <a:r>
              <a:rPr lang="en-US" dirty="0">
                <a:solidFill>
                  <a:schemeClr val="tx1"/>
                </a:solidFill>
              </a:rPr>
              <a:t>Includes location, layout, storage, conveyors, queues, simulation</a:t>
            </a:r>
          </a:p>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Facility Location Models</a:t>
            </a:r>
          </a:p>
        </p:txBody>
      </p:sp>
      <p:sp>
        <p:nvSpPr>
          <p:cNvPr id="3" name="Content Placeholder 2"/>
          <p:cNvSpPr>
            <a:spLocks noGrp="1"/>
          </p:cNvSpPr>
          <p:nvPr>
            <p:ph idx="1"/>
          </p:nvPr>
        </p:nvSpPr>
        <p:spPr/>
        <p:txBody>
          <a:bodyPr/>
          <a:lstStyle/>
          <a:p>
            <a:r>
              <a:t>Key decision: where to locate one/multiple facilities</a:t>
            </a:r>
          </a:p>
          <a:p>
            <a:r>
              <a:t>Applications: airports, warehouses, hospitals, machines, etc.</a:t>
            </a:r>
          </a:p>
          <a:p>
            <a:r>
              <a:t>Categories: single vs. multi-facility, continuous vs. discrete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Types of Facility Location Models</a:t>
            </a:r>
          </a:p>
        </p:txBody>
      </p:sp>
      <p:sp>
        <p:nvSpPr>
          <p:cNvPr id="3" name="Content Placeholder 2"/>
          <p:cNvSpPr>
            <a:spLocks noGrp="1"/>
          </p:cNvSpPr>
          <p:nvPr>
            <p:ph idx="1"/>
          </p:nvPr>
        </p:nvSpPr>
        <p:spPr/>
        <p:txBody>
          <a:bodyPr/>
          <a:lstStyle/>
          <a:p>
            <a:r>
              <a:rPr dirty="0"/>
              <a:t>Single vs. Multi-facility models</a:t>
            </a:r>
          </a:p>
          <a:p>
            <a:r>
              <a:rPr dirty="0"/>
              <a:t>Continuous vs. Discrete locations</a:t>
            </a:r>
          </a:p>
          <a:p>
            <a:r>
              <a:rPr dirty="0" err="1"/>
              <a:t>Minisum</a:t>
            </a:r>
            <a:r>
              <a:rPr dirty="0"/>
              <a:t>: minimize total weighted distance</a:t>
            </a:r>
          </a:p>
          <a:p>
            <a:r>
              <a:rPr dirty="0"/>
              <a:t>Minimax: minimize maximum distance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Distance Measures</a:t>
            </a:r>
          </a:p>
        </p:txBody>
      </p:sp>
      <p:sp>
        <p:nvSpPr>
          <p:cNvPr id="3" name="Content Placeholder 2"/>
          <p:cNvSpPr>
            <a:spLocks noGrp="1"/>
          </p:cNvSpPr>
          <p:nvPr>
            <p:ph idx="1"/>
          </p:nvPr>
        </p:nvSpPr>
        <p:spPr/>
        <p:txBody>
          <a:bodyPr/>
          <a:lstStyle/>
          <a:p>
            <a:r>
              <a:rPr b="1" i="1" u="sng" dirty="0"/>
              <a:t>Rectilinear (Manhattan): |x−a| + |y−b|</a:t>
            </a:r>
          </a:p>
          <a:p>
            <a:r>
              <a:rPr dirty="0"/>
              <a:t>Euclidean: sqrt((x−a)² + (y−b)²)</a:t>
            </a:r>
          </a:p>
          <a:p>
            <a:r>
              <a:rPr dirty="0"/>
              <a:t>Chebyshev: max(|x−a|, |y−b|)</a:t>
            </a:r>
            <a:endParaRPr lang="en-US" dirty="0"/>
          </a:p>
          <a:p>
            <a:r>
              <a:rPr lang="en-US" dirty="0"/>
              <a:t>Actual flow-path distance</a:t>
            </a:r>
          </a:p>
          <a:p>
            <a:pPr marL="0" indent="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Single-Facility Rectilinear Minisum Model</a:t>
            </a:r>
          </a:p>
        </p:txBody>
      </p:sp>
      <p:sp>
        <p:nvSpPr>
          <p:cNvPr id="3" name="Content Placeholder 2"/>
          <p:cNvSpPr>
            <a:spLocks noGrp="1"/>
          </p:cNvSpPr>
          <p:nvPr>
            <p:ph idx="1"/>
          </p:nvPr>
        </p:nvSpPr>
        <p:spPr/>
        <p:txBody>
          <a:bodyPr/>
          <a:lstStyle/>
          <a:p>
            <a:r>
              <a:rPr dirty="0"/>
              <a:t>Objective: Minimize weighted travel distance</a:t>
            </a:r>
          </a:p>
          <a:p>
            <a:r>
              <a:rPr dirty="0"/>
              <a:t>Function separable in x and y</a:t>
            </a:r>
          </a:p>
          <a:p>
            <a:r>
              <a:rPr dirty="0"/>
              <a:t>Optimal coordinates satisfy median conditions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Notation Explained – Rectilinear Minisum Model</a:t>
            </a:r>
          </a:p>
        </p:txBody>
      </p:sp>
      <p:sp>
        <p:nvSpPr>
          <p:cNvPr id="3" name="Content Placeholder 2"/>
          <p:cNvSpPr>
            <a:spLocks noGrp="1"/>
          </p:cNvSpPr>
          <p:nvPr>
            <p:ph idx="1"/>
          </p:nvPr>
        </p:nvSpPr>
        <p:spPr/>
        <p:txBody>
          <a:bodyPr>
            <a:normAutofit fontScale="92500" lnSpcReduction="10000"/>
          </a:bodyPr>
          <a:lstStyle/>
          <a:p>
            <a:r>
              <a:t>Objective: Minimize Σ wi(|x−ai| + |y−bi|)</a:t>
            </a:r>
          </a:p>
          <a:p>
            <a:r>
              <a:t>x, y: coordinates of the new facility</a:t>
            </a:r>
          </a:p>
          <a:p>
            <a:r>
              <a:t>ai, bi: coordinates of existing facility i</a:t>
            </a:r>
          </a:p>
          <a:p>
            <a:r>
              <a:t>|x−ai|: horizontal distance; |y−bi|: vertical distance</a:t>
            </a:r>
          </a:p>
          <a:p>
            <a:r>
              <a:t>wi: weight (e.g., trips/day, cost per trip, flow)</a:t>
            </a:r>
          </a:p>
          <a:p>
            <a:r>
              <a:t>Σ over i = 1..m: sum over all m existing facilities</a:t>
            </a:r>
          </a:p>
          <a:p>
            <a:r>
              <a:t>Goal: minimize total weighted rectilinear travel distance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Median Condition Illustration</a:t>
            </a:r>
          </a:p>
        </p:txBody>
      </p:sp>
      <p:sp>
        <p:nvSpPr>
          <p:cNvPr id="3" name="Content Placeholder 2"/>
          <p:cNvSpPr>
            <a:spLocks noGrp="1"/>
          </p:cNvSpPr>
          <p:nvPr>
            <p:ph idx="1"/>
          </p:nvPr>
        </p:nvSpPr>
        <p:spPr/>
        <p:txBody>
          <a:bodyPr/>
          <a:lstStyle/>
          <a:p>
            <a:r>
              <a:t>x* such that ≤50% weight left and ≤50% right</a:t>
            </a:r>
          </a:p>
          <a:p>
            <a:r>
              <a:t>y* such that ≤50% below and ≤50% above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654" y="53921"/>
            <a:ext cx="8875987" cy="1143000"/>
          </a:xfrm>
        </p:spPr>
        <p:txBody>
          <a:bodyPr>
            <a:normAutofit fontScale="90000"/>
          </a:bodyPr>
          <a:lstStyle/>
          <a:p>
            <a:r>
              <a:rPr dirty="0"/>
              <a:t>Example 10.1 – Machine Coordinates &amp; Weights</a:t>
            </a:r>
          </a:p>
        </p:txBody>
      </p:sp>
      <p:sp>
        <p:nvSpPr>
          <p:cNvPr id="3" name="Content Placeholder 2"/>
          <p:cNvSpPr>
            <a:spLocks noGrp="1"/>
          </p:cNvSpPr>
          <p:nvPr>
            <p:ph idx="1"/>
          </p:nvPr>
        </p:nvSpPr>
        <p:spPr>
          <a:xfrm>
            <a:off x="536028" y="1196922"/>
            <a:ext cx="8497614" cy="5386440"/>
          </a:xfrm>
        </p:spPr>
        <p:txBody>
          <a:bodyPr>
            <a:normAutofit/>
          </a:bodyPr>
          <a:lstStyle/>
          <a:p>
            <a:pPr algn="just"/>
            <a:r>
              <a:rPr sz="2200" dirty="0">
                <a:latin typeface="Times New Roman" panose="02020603050405020304" pitchFamily="18" charset="0"/>
                <a:cs typeface="Times New Roman" panose="02020603050405020304" pitchFamily="18" charset="0"/>
              </a:rPr>
              <a:t>Five machine locations used for computing optimal point.</a:t>
            </a:r>
            <a:endParaRPr lang="en-US" sz="2200" dirty="0">
              <a:latin typeface="Times New Roman" panose="02020603050405020304" pitchFamily="18" charset="0"/>
              <a:cs typeface="Times New Roman" panose="02020603050405020304" pitchFamily="18" charset="0"/>
            </a:endParaRPr>
          </a:p>
          <a:p>
            <a:pPr algn="just"/>
            <a:r>
              <a:rPr lang="en-US" sz="2200" b="0" i="0" u="none" strike="noStrike" baseline="0" dirty="0">
                <a:latin typeface="Times New Roman" panose="02020603050405020304" pitchFamily="18" charset="0"/>
                <a:cs typeface="Times New Roman" panose="02020603050405020304" pitchFamily="18" charset="0"/>
              </a:rPr>
              <a:t>Consider the problem of locating a new general purpose machine tool in a maintenance department. Five machines currently located in the department have the following coordinate locations: </a:t>
            </a:r>
            <a:r>
              <a:rPr lang="en-US" sz="2200" b="0" i="1" u="none" strike="noStrike" baseline="0" dirty="0">
                <a:latin typeface="Times New Roman" panose="02020603050405020304" pitchFamily="18" charset="0"/>
                <a:cs typeface="Times New Roman" panose="02020603050405020304" pitchFamily="18" charset="0"/>
              </a:rPr>
              <a:t>P</a:t>
            </a:r>
            <a:r>
              <a:rPr lang="en-US" sz="2200" b="0" i="0" u="none" strike="noStrike" baseline="0" dirty="0">
                <a:latin typeface="Times New Roman" panose="02020603050405020304" pitchFamily="18" charset="0"/>
                <a:cs typeface="Times New Roman" panose="02020603050405020304" pitchFamily="18" charset="0"/>
              </a:rPr>
              <a:t>1  (1, 1), </a:t>
            </a:r>
            <a:r>
              <a:rPr lang="en-US" sz="2200" b="0" i="1" u="none" strike="noStrike" baseline="0" dirty="0">
                <a:latin typeface="Times New Roman" panose="02020603050405020304" pitchFamily="18" charset="0"/>
                <a:cs typeface="Times New Roman" panose="02020603050405020304" pitchFamily="18" charset="0"/>
              </a:rPr>
              <a:t>P</a:t>
            </a:r>
            <a:r>
              <a:rPr lang="en-US" sz="2200" b="0" i="0" u="none" strike="noStrike" baseline="0" dirty="0">
                <a:latin typeface="Times New Roman" panose="02020603050405020304" pitchFamily="18" charset="0"/>
                <a:cs typeface="Times New Roman" panose="02020603050405020304" pitchFamily="18" charset="0"/>
              </a:rPr>
              <a:t>2  (6, 2), </a:t>
            </a:r>
            <a:r>
              <a:rPr lang="en-US" sz="2200" b="0" i="1" u="none" strike="noStrike" baseline="0" dirty="0">
                <a:latin typeface="Times New Roman" panose="02020603050405020304" pitchFamily="18" charset="0"/>
                <a:cs typeface="Times New Roman" panose="02020603050405020304" pitchFamily="18" charset="0"/>
              </a:rPr>
              <a:t>P</a:t>
            </a:r>
            <a:r>
              <a:rPr lang="en-US" sz="2200" b="0" i="0" u="none" strike="noStrike" baseline="0" dirty="0">
                <a:latin typeface="Times New Roman" panose="02020603050405020304" pitchFamily="18" charset="0"/>
                <a:cs typeface="Times New Roman" panose="02020603050405020304" pitchFamily="18" charset="0"/>
              </a:rPr>
              <a:t>3  (2, 8), </a:t>
            </a:r>
            <a:r>
              <a:rPr lang="en-US" sz="2200" b="0" i="1" u="none" strike="noStrike" baseline="0" dirty="0">
                <a:latin typeface="Times New Roman" panose="02020603050405020304" pitchFamily="18" charset="0"/>
                <a:cs typeface="Times New Roman" panose="02020603050405020304" pitchFamily="18" charset="0"/>
              </a:rPr>
              <a:t>P</a:t>
            </a:r>
            <a:r>
              <a:rPr lang="en-US" sz="2200" b="0" i="0" u="none" strike="noStrike" baseline="0" dirty="0">
                <a:latin typeface="Times New Roman" panose="02020603050405020304" pitchFamily="18" charset="0"/>
                <a:cs typeface="Times New Roman" panose="02020603050405020304" pitchFamily="18" charset="0"/>
              </a:rPr>
              <a:t>4  (3, 6), and </a:t>
            </a:r>
            <a:r>
              <a:rPr lang="en-US" sz="2200" b="0" i="1" u="none" strike="noStrike" baseline="0" dirty="0">
                <a:latin typeface="Times New Roman" panose="02020603050405020304" pitchFamily="18" charset="0"/>
                <a:cs typeface="Times New Roman" panose="02020603050405020304" pitchFamily="18" charset="0"/>
              </a:rPr>
              <a:t>P</a:t>
            </a:r>
            <a:r>
              <a:rPr lang="en-US" sz="2200" b="0" i="0" u="none" strike="noStrike" baseline="0" dirty="0">
                <a:latin typeface="Times New Roman" panose="02020603050405020304" pitchFamily="18" charset="0"/>
                <a:cs typeface="Times New Roman" panose="02020603050405020304" pitchFamily="18" charset="0"/>
              </a:rPr>
              <a:t>5  (8, 4). The cost per unit distance traveled between the new machine and each existing machine is the same. The number of trips per day between the new machine and existing machines 1, . . ., 5 are 10, 20, 25, 20, and 25, respectively.</a:t>
            </a:r>
          </a:p>
          <a:p>
            <a:pPr algn="just"/>
            <a:r>
              <a:rPr lang="en-US" sz="2200" dirty="0">
                <a:latin typeface="Times New Roman" panose="02020603050405020304" pitchFamily="18" charset="0"/>
                <a:cs typeface="Times New Roman" panose="02020603050405020304" pitchFamily="18" charset="0"/>
              </a:rPr>
              <a:t>Step 1 (Consolidate the data)</a:t>
            </a:r>
            <a:endParaRPr sz="22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176291598"/>
              </p:ext>
            </p:extLst>
          </p:nvPr>
        </p:nvGraphicFramePr>
        <p:xfrm>
          <a:off x="457200" y="4430557"/>
          <a:ext cx="8229600" cy="219456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r>
                        <a:t>Machine</a:t>
                      </a:r>
                    </a:p>
                  </a:txBody>
                  <a:tcPr/>
                </a:tc>
                <a:tc>
                  <a:txBody>
                    <a:bodyPr/>
                    <a:lstStyle/>
                    <a:p>
                      <a:r>
                        <a:rPr dirty="0"/>
                        <a:t>x</a:t>
                      </a:r>
                    </a:p>
                  </a:txBody>
                  <a:tcPr/>
                </a:tc>
                <a:tc>
                  <a:txBody>
                    <a:bodyPr/>
                    <a:lstStyle/>
                    <a:p>
                      <a:r>
                        <a:rPr dirty="0"/>
                        <a:t>y</a:t>
                      </a:r>
                    </a:p>
                  </a:txBody>
                  <a:tcPr/>
                </a:tc>
                <a:tc>
                  <a:txBody>
                    <a:bodyPr/>
                    <a:lstStyle/>
                    <a:p>
                      <a:r>
                        <a:rPr dirty="0"/>
                        <a:t>Weight</a:t>
                      </a:r>
                    </a:p>
                  </a:txBody>
                  <a:tcPr/>
                </a:tc>
                <a:extLst>
                  <a:ext uri="{0D108BD9-81ED-4DB2-BD59-A6C34878D82A}">
                    <a16:rowId xmlns:a16="http://schemas.microsoft.com/office/drawing/2014/main" val="10000"/>
                  </a:ext>
                </a:extLst>
              </a:tr>
              <a:tr h="304800">
                <a:tc>
                  <a:txBody>
                    <a:bodyPr/>
                    <a:lstStyle/>
                    <a:p>
                      <a:r>
                        <a:t>1</a:t>
                      </a:r>
                    </a:p>
                  </a:txBody>
                  <a:tcPr/>
                </a:tc>
                <a:tc>
                  <a:txBody>
                    <a:bodyPr/>
                    <a:lstStyle/>
                    <a:p>
                      <a:r>
                        <a:t>1</a:t>
                      </a:r>
                    </a:p>
                  </a:txBody>
                  <a:tcPr/>
                </a:tc>
                <a:tc>
                  <a:txBody>
                    <a:bodyPr/>
                    <a:lstStyle/>
                    <a:p>
                      <a:r>
                        <a:rPr dirty="0"/>
                        <a:t>1</a:t>
                      </a:r>
                    </a:p>
                  </a:txBody>
                  <a:tcPr/>
                </a:tc>
                <a:tc>
                  <a:txBody>
                    <a:bodyPr/>
                    <a:lstStyle/>
                    <a:p>
                      <a:r>
                        <a:t>10</a:t>
                      </a:r>
                    </a:p>
                  </a:txBody>
                  <a:tcPr/>
                </a:tc>
                <a:extLst>
                  <a:ext uri="{0D108BD9-81ED-4DB2-BD59-A6C34878D82A}">
                    <a16:rowId xmlns:a16="http://schemas.microsoft.com/office/drawing/2014/main" val="10001"/>
                  </a:ext>
                </a:extLst>
              </a:tr>
              <a:tr h="304800">
                <a:tc>
                  <a:txBody>
                    <a:bodyPr/>
                    <a:lstStyle/>
                    <a:p>
                      <a:r>
                        <a:t>2</a:t>
                      </a:r>
                    </a:p>
                  </a:txBody>
                  <a:tcPr/>
                </a:tc>
                <a:tc>
                  <a:txBody>
                    <a:bodyPr/>
                    <a:lstStyle/>
                    <a:p>
                      <a:r>
                        <a:t>6</a:t>
                      </a:r>
                    </a:p>
                  </a:txBody>
                  <a:tcPr/>
                </a:tc>
                <a:tc>
                  <a:txBody>
                    <a:bodyPr/>
                    <a:lstStyle/>
                    <a:p>
                      <a:r>
                        <a:t>2</a:t>
                      </a:r>
                    </a:p>
                  </a:txBody>
                  <a:tcPr/>
                </a:tc>
                <a:tc>
                  <a:txBody>
                    <a:bodyPr/>
                    <a:lstStyle/>
                    <a:p>
                      <a:r>
                        <a:t>20</a:t>
                      </a:r>
                    </a:p>
                  </a:txBody>
                  <a:tcPr/>
                </a:tc>
                <a:extLst>
                  <a:ext uri="{0D108BD9-81ED-4DB2-BD59-A6C34878D82A}">
                    <a16:rowId xmlns:a16="http://schemas.microsoft.com/office/drawing/2014/main" val="10002"/>
                  </a:ext>
                </a:extLst>
              </a:tr>
              <a:tr h="304800">
                <a:tc>
                  <a:txBody>
                    <a:bodyPr/>
                    <a:lstStyle/>
                    <a:p>
                      <a:r>
                        <a:t>3</a:t>
                      </a:r>
                    </a:p>
                  </a:txBody>
                  <a:tcPr/>
                </a:tc>
                <a:tc>
                  <a:txBody>
                    <a:bodyPr/>
                    <a:lstStyle/>
                    <a:p>
                      <a:r>
                        <a:t>2</a:t>
                      </a:r>
                    </a:p>
                  </a:txBody>
                  <a:tcPr/>
                </a:tc>
                <a:tc>
                  <a:txBody>
                    <a:bodyPr/>
                    <a:lstStyle/>
                    <a:p>
                      <a:r>
                        <a:t>8</a:t>
                      </a:r>
                    </a:p>
                  </a:txBody>
                  <a:tcPr/>
                </a:tc>
                <a:tc>
                  <a:txBody>
                    <a:bodyPr/>
                    <a:lstStyle/>
                    <a:p>
                      <a:r>
                        <a:t>25</a:t>
                      </a:r>
                    </a:p>
                  </a:txBody>
                  <a:tcPr/>
                </a:tc>
                <a:extLst>
                  <a:ext uri="{0D108BD9-81ED-4DB2-BD59-A6C34878D82A}">
                    <a16:rowId xmlns:a16="http://schemas.microsoft.com/office/drawing/2014/main" val="10003"/>
                  </a:ext>
                </a:extLst>
              </a:tr>
              <a:tr h="304800">
                <a:tc>
                  <a:txBody>
                    <a:bodyPr/>
                    <a:lstStyle/>
                    <a:p>
                      <a:r>
                        <a:t>4</a:t>
                      </a:r>
                    </a:p>
                  </a:txBody>
                  <a:tcPr/>
                </a:tc>
                <a:tc>
                  <a:txBody>
                    <a:bodyPr/>
                    <a:lstStyle/>
                    <a:p>
                      <a:r>
                        <a:t>3</a:t>
                      </a:r>
                    </a:p>
                  </a:txBody>
                  <a:tcPr/>
                </a:tc>
                <a:tc>
                  <a:txBody>
                    <a:bodyPr/>
                    <a:lstStyle/>
                    <a:p>
                      <a:r>
                        <a:t>6</a:t>
                      </a:r>
                    </a:p>
                  </a:txBody>
                  <a:tcPr/>
                </a:tc>
                <a:tc>
                  <a:txBody>
                    <a:bodyPr/>
                    <a:lstStyle/>
                    <a:p>
                      <a:r>
                        <a:t>20</a:t>
                      </a:r>
                    </a:p>
                  </a:txBody>
                  <a:tcPr/>
                </a:tc>
                <a:extLst>
                  <a:ext uri="{0D108BD9-81ED-4DB2-BD59-A6C34878D82A}">
                    <a16:rowId xmlns:a16="http://schemas.microsoft.com/office/drawing/2014/main" val="10004"/>
                  </a:ext>
                </a:extLst>
              </a:tr>
              <a:tr h="304800">
                <a:tc>
                  <a:txBody>
                    <a:bodyPr/>
                    <a:lstStyle/>
                    <a:p>
                      <a:r>
                        <a:t>5</a:t>
                      </a:r>
                    </a:p>
                  </a:txBody>
                  <a:tcPr/>
                </a:tc>
                <a:tc>
                  <a:txBody>
                    <a:bodyPr/>
                    <a:lstStyle/>
                    <a:p>
                      <a:r>
                        <a:t>8</a:t>
                      </a:r>
                    </a:p>
                  </a:txBody>
                  <a:tcPr/>
                </a:tc>
                <a:tc>
                  <a:txBody>
                    <a:bodyPr/>
                    <a:lstStyle/>
                    <a:p>
                      <a:r>
                        <a:rPr dirty="0"/>
                        <a:t>4</a:t>
                      </a:r>
                    </a:p>
                  </a:txBody>
                  <a:tcPr/>
                </a:tc>
                <a:tc>
                  <a:txBody>
                    <a:bodyPr/>
                    <a:lstStyle/>
                    <a:p>
                      <a:r>
                        <a:rPr dirty="0"/>
                        <a:t>25</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a:t>
            </a:r>
            <a:r>
              <a:rPr dirty="0"/>
              <a:t>Cumulative Weight Logic</a:t>
            </a:r>
          </a:p>
        </p:txBody>
      </p:sp>
      <p:sp>
        <p:nvSpPr>
          <p:cNvPr id="3" name="Content Placeholder 2"/>
          <p:cNvSpPr>
            <a:spLocks noGrp="1"/>
          </p:cNvSpPr>
          <p:nvPr>
            <p:ph idx="1"/>
          </p:nvPr>
        </p:nvSpPr>
        <p:spPr/>
        <p:txBody>
          <a:bodyPr/>
          <a:lstStyle/>
          <a:p>
            <a:r>
              <a:rPr lang="en-US" dirty="0"/>
              <a:t>Optimal coordinates satisfy median conditions</a:t>
            </a:r>
          </a:p>
          <a:p>
            <a:r>
              <a:rPr dirty="0"/>
              <a:t>Order x-coordinates and accumulate weights</a:t>
            </a:r>
          </a:p>
          <a:p>
            <a:r>
              <a:rPr dirty="0"/>
              <a:t>Point where cumulative ≥ 50% gives x*</a:t>
            </a:r>
          </a:p>
          <a:p>
            <a:r>
              <a:rPr dirty="0"/>
              <a:t>Repeat same logic for 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47C0FC2-705F-4188-9351-E01F681D1076}"/>
              </a:ext>
            </a:extLst>
          </p:cNvPr>
          <p:cNvPicPr>
            <a:picLocks noChangeAspect="1"/>
          </p:cNvPicPr>
          <p:nvPr/>
        </p:nvPicPr>
        <p:blipFill>
          <a:blip r:embed="rId2"/>
          <a:stretch>
            <a:fillRect/>
          </a:stretch>
        </p:blipFill>
        <p:spPr>
          <a:xfrm>
            <a:off x="433551" y="551793"/>
            <a:ext cx="8124092" cy="5029200"/>
          </a:xfrm>
          <a:prstGeom prst="rect">
            <a:avLst/>
          </a:prstGeom>
        </p:spPr>
      </p:pic>
      <p:sp>
        <p:nvSpPr>
          <p:cNvPr id="9" name="TextBox 8">
            <a:extLst>
              <a:ext uri="{FF2B5EF4-FFF2-40B4-BE49-F238E27FC236}">
                <a16:creationId xmlns:a16="http://schemas.microsoft.com/office/drawing/2014/main" id="{0DC2DBA5-5534-431A-BC1B-9BC7E51B75B4}"/>
              </a:ext>
            </a:extLst>
          </p:cNvPr>
          <p:cNvSpPr txBox="1"/>
          <p:nvPr/>
        </p:nvSpPr>
        <p:spPr>
          <a:xfrm>
            <a:off x="914399" y="5936875"/>
            <a:ext cx="4729655" cy="369332"/>
          </a:xfrm>
          <a:prstGeom prst="rect">
            <a:avLst/>
          </a:prstGeom>
          <a:noFill/>
        </p:spPr>
        <p:txBody>
          <a:bodyPr wrap="square">
            <a:spAutoFit/>
          </a:bodyPr>
          <a:lstStyle/>
          <a:p>
            <a:r>
              <a:rPr lang="es-ES" dirty="0" err="1"/>
              <a:t>Optimal</a:t>
            </a:r>
            <a:r>
              <a:rPr lang="es-ES" dirty="0"/>
              <a:t> x* = ??, </a:t>
            </a:r>
            <a:r>
              <a:rPr lang="es-ES" dirty="0" err="1"/>
              <a:t>optimal</a:t>
            </a:r>
            <a:r>
              <a:rPr lang="es-ES" dirty="0"/>
              <a:t> y* = ??</a:t>
            </a:r>
          </a:p>
        </p:txBody>
      </p:sp>
    </p:spTree>
    <p:extLst>
      <p:ext uri="{BB962C8B-B14F-4D97-AF65-F5344CB8AC3E}">
        <p14:creationId xmlns:p14="http://schemas.microsoft.com/office/powerpoint/2010/main" val="3507936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Final Optimal Location (3,4)</a:t>
            </a:r>
          </a:p>
        </p:txBody>
      </p:sp>
      <p:sp>
        <p:nvSpPr>
          <p:cNvPr id="3" name="Content Placeholder 2"/>
          <p:cNvSpPr>
            <a:spLocks noGrp="1"/>
          </p:cNvSpPr>
          <p:nvPr>
            <p:ph idx="1"/>
          </p:nvPr>
        </p:nvSpPr>
        <p:spPr/>
        <p:txBody>
          <a:bodyPr/>
          <a:lstStyle/>
          <a:p>
            <a:r>
              <a:rPr dirty="0"/>
              <a:t>Rectilinear distances drawn from (3,4) to all machines</a:t>
            </a:r>
          </a:p>
          <a:p>
            <a:r>
              <a:rPr dirty="0"/>
              <a:t>Represents optimal point minimizing total travel cost</a:t>
            </a:r>
            <a:endParaRPr lang="en-US" dirty="0"/>
          </a:p>
          <a:p>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Generated image">
            <a:extLst>
              <a:ext uri="{FF2B5EF4-FFF2-40B4-BE49-F238E27FC236}">
                <a16:creationId xmlns:a16="http://schemas.microsoft.com/office/drawing/2014/main" id="{C9E177CF-AA06-480C-9B24-3A1477D0AEE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D4AFC75C-00A2-4664-ACD5-04D97C3D824C}"/>
              </a:ext>
            </a:extLst>
          </p:cNvPr>
          <p:cNvPicPr>
            <a:picLocks noChangeAspect="1"/>
          </p:cNvPicPr>
          <p:nvPr/>
        </p:nvPicPr>
        <p:blipFill rotWithShape="1">
          <a:blip r:embed="rId2"/>
          <a:srcRect t="2988" b="19081"/>
          <a:stretch/>
        </p:blipFill>
        <p:spPr>
          <a:xfrm>
            <a:off x="1576552" y="204951"/>
            <a:ext cx="5533696" cy="6468699"/>
          </a:xfrm>
          <a:prstGeom prst="rect">
            <a:avLst/>
          </a:prstGeom>
        </p:spPr>
      </p:pic>
    </p:spTree>
    <p:extLst>
      <p:ext uri="{BB962C8B-B14F-4D97-AF65-F5344CB8AC3E}">
        <p14:creationId xmlns:p14="http://schemas.microsoft.com/office/powerpoint/2010/main" val="1346193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5F57596-C33C-49E1-9C2C-B104B79BEEB7}"/>
              </a:ext>
            </a:extLst>
          </p:cNvPr>
          <p:cNvPicPr>
            <a:picLocks noChangeAspect="1"/>
          </p:cNvPicPr>
          <p:nvPr/>
        </p:nvPicPr>
        <p:blipFill>
          <a:blip r:embed="rId2"/>
          <a:stretch>
            <a:fillRect/>
          </a:stretch>
        </p:blipFill>
        <p:spPr>
          <a:xfrm>
            <a:off x="0" y="381000"/>
            <a:ext cx="9144000" cy="6096000"/>
          </a:xfrm>
          <a:prstGeom prst="rect">
            <a:avLst/>
          </a:prstGeom>
        </p:spPr>
      </p:pic>
      <p:pic>
        <p:nvPicPr>
          <p:cNvPr id="8" name="Picture 7">
            <a:extLst>
              <a:ext uri="{FF2B5EF4-FFF2-40B4-BE49-F238E27FC236}">
                <a16:creationId xmlns:a16="http://schemas.microsoft.com/office/drawing/2014/main" id="{48C94A8E-34DF-45F4-9072-863BEE8C390F}"/>
              </a:ext>
            </a:extLst>
          </p:cNvPr>
          <p:cNvPicPr>
            <a:picLocks noChangeAspect="1"/>
          </p:cNvPicPr>
          <p:nvPr/>
        </p:nvPicPr>
        <p:blipFill>
          <a:blip r:embed="rId3"/>
          <a:stretch>
            <a:fillRect/>
          </a:stretch>
        </p:blipFill>
        <p:spPr>
          <a:xfrm>
            <a:off x="0" y="381000"/>
            <a:ext cx="9144000" cy="6096000"/>
          </a:xfrm>
          <a:prstGeom prst="rect">
            <a:avLst/>
          </a:prstGeom>
        </p:spPr>
      </p:pic>
    </p:spTree>
    <p:extLst>
      <p:ext uri="{BB962C8B-B14F-4D97-AF65-F5344CB8AC3E}">
        <p14:creationId xmlns:p14="http://schemas.microsoft.com/office/powerpoint/2010/main" val="36235461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48</TotalTime>
  <Words>507</Words>
  <Application>Microsoft Office PowerPoint</Application>
  <PresentationFormat>On-screen Show (4:3)</PresentationFormat>
  <Paragraphs>69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Chapter 10 – Quantitative Facilities Planning Models</vt:lpstr>
      <vt:lpstr>Facility Location Models</vt:lpstr>
      <vt:lpstr>Types of Facility Location Models</vt:lpstr>
      <vt:lpstr>Distance Measures</vt:lpstr>
      <vt:lpstr>Single-Facility Rectilinear Minisum Model</vt:lpstr>
      <vt:lpstr>Notation Explained – Rectilinear Minisum Model</vt:lpstr>
      <vt:lpstr>Median Condition Illustration</vt:lpstr>
      <vt:lpstr>Example 10.1 – Machine Coordinates &amp; Weights</vt:lpstr>
      <vt:lpstr>Step 2: Cumulative Weight Logic</vt:lpstr>
      <vt:lpstr>PowerPoint Presentation</vt:lpstr>
      <vt:lpstr>Final Optimal Location (3,4)</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 Quantitative Facilities Planning Models</dc:title>
  <dc:subject/>
  <dc:creator>Syed Rehan Ashraf</dc:creator>
  <cp:keywords/>
  <dc:description>generated using python-pptx</dc:description>
  <cp:lastModifiedBy>Syed Rehan Ashraf</cp:lastModifiedBy>
  <cp:revision>6</cp:revision>
  <dcterms:created xsi:type="dcterms:W3CDTF">2013-01-27T09:14:16Z</dcterms:created>
  <dcterms:modified xsi:type="dcterms:W3CDTF">2026-01-28T07:39:30Z</dcterms:modified>
  <cp:category/>
</cp:coreProperties>
</file>