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9"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43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Rehan Ashraf" userId="bf1b3b78-86b5-4a32-9cac-ca47215dcf69" providerId="ADAL" clId="{86B5EC88-BA94-42FF-A167-B7FCCF9342DF}"/>
    <pc:docChg chg="undo custSel addSld delSld modSld">
      <pc:chgData name="Syed Rehan Ashraf" userId="bf1b3b78-86b5-4a32-9cac-ca47215dcf69" providerId="ADAL" clId="{86B5EC88-BA94-42FF-A167-B7FCCF9342DF}" dt="2025-12-29T10:30:29.455" v="223" actId="14100"/>
      <pc:docMkLst>
        <pc:docMk/>
      </pc:docMkLst>
      <pc:sldChg chg="modSp mod">
        <pc:chgData name="Syed Rehan Ashraf" userId="bf1b3b78-86b5-4a32-9cac-ca47215dcf69" providerId="ADAL" clId="{86B5EC88-BA94-42FF-A167-B7FCCF9342DF}" dt="2025-12-29T10:16:37.359" v="35" actId="255"/>
        <pc:sldMkLst>
          <pc:docMk/>
          <pc:sldMk cId="0" sldId="257"/>
        </pc:sldMkLst>
        <pc:spChg chg="mod">
          <ac:chgData name="Syed Rehan Ashraf" userId="bf1b3b78-86b5-4a32-9cac-ca47215dcf69" providerId="ADAL" clId="{86B5EC88-BA94-42FF-A167-B7FCCF9342DF}" dt="2025-12-29T10:16:37.359" v="35" actId="255"/>
          <ac:spMkLst>
            <pc:docMk/>
            <pc:sldMk cId="0" sldId="257"/>
            <ac:spMk id="5" creationId="{00000000-0000-0000-0000-000000000000}"/>
          </ac:spMkLst>
        </pc:spChg>
      </pc:sldChg>
      <pc:sldChg chg="modSp mod">
        <pc:chgData name="Syed Rehan Ashraf" userId="bf1b3b78-86b5-4a32-9cac-ca47215dcf69" providerId="ADAL" clId="{86B5EC88-BA94-42FF-A167-B7FCCF9342DF}" dt="2025-12-29T10:18:27.777" v="39" actId="113"/>
        <pc:sldMkLst>
          <pc:docMk/>
          <pc:sldMk cId="0" sldId="259"/>
        </pc:sldMkLst>
        <pc:spChg chg="mod">
          <ac:chgData name="Syed Rehan Ashraf" userId="bf1b3b78-86b5-4a32-9cac-ca47215dcf69" providerId="ADAL" clId="{86B5EC88-BA94-42FF-A167-B7FCCF9342DF}" dt="2025-12-29T10:18:27.777" v="39" actId="113"/>
          <ac:spMkLst>
            <pc:docMk/>
            <pc:sldMk cId="0" sldId="259"/>
            <ac:spMk id="3" creationId="{00000000-0000-0000-0000-000000000000}"/>
          </ac:spMkLst>
        </pc:spChg>
      </pc:sldChg>
      <pc:sldChg chg="modSp mod">
        <pc:chgData name="Syed Rehan Ashraf" userId="bf1b3b78-86b5-4a32-9cac-ca47215dcf69" providerId="ADAL" clId="{86B5EC88-BA94-42FF-A167-B7FCCF9342DF}" dt="2025-12-29T10:19:45.144" v="55" actId="21"/>
        <pc:sldMkLst>
          <pc:docMk/>
          <pc:sldMk cId="0" sldId="260"/>
        </pc:sldMkLst>
        <pc:spChg chg="mod">
          <ac:chgData name="Syed Rehan Ashraf" userId="bf1b3b78-86b5-4a32-9cac-ca47215dcf69" providerId="ADAL" clId="{86B5EC88-BA94-42FF-A167-B7FCCF9342DF}" dt="2025-12-29T10:19:45.144" v="55" actId="21"/>
          <ac:spMkLst>
            <pc:docMk/>
            <pc:sldMk cId="0" sldId="260"/>
            <ac:spMk id="3" creationId="{00000000-0000-0000-0000-000000000000}"/>
          </ac:spMkLst>
        </pc:spChg>
      </pc:sldChg>
      <pc:sldChg chg="addSp delSp modSp new mod">
        <pc:chgData name="Syed Rehan Ashraf" userId="bf1b3b78-86b5-4a32-9cac-ca47215dcf69" providerId="ADAL" clId="{86B5EC88-BA94-42FF-A167-B7FCCF9342DF}" dt="2025-12-29T10:20:37.802" v="141" actId="20577"/>
        <pc:sldMkLst>
          <pc:docMk/>
          <pc:sldMk cId="2153698979" sldId="262"/>
        </pc:sldMkLst>
        <pc:spChg chg="del">
          <ac:chgData name="Syed Rehan Ashraf" userId="bf1b3b78-86b5-4a32-9cac-ca47215dcf69" providerId="ADAL" clId="{86B5EC88-BA94-42FF-A167-B7FCCF9342DF}" dt="2025-12-29T10:19:25.531" v="47" actId="478"/>
          <ac:spMkLst>
            <pc:docMk/>
            <pc:sldMk cId="2153698979" sldId="262"/>
            <ac:spMk id="2" creationId="{C5ABE5E3-8F5F-4F3D-BBED-B31969A87172}"/>
          </ac:spMkLst>
        </pc:spChg>
        <pc:spChg chg="del">
          <ac:chgData name="Syed Rehan Ashraf" userId="bf1b3b78-86b5-4a32-9cac-ca47215dcf69" providerId="ADAL" clId="{86B5EC88-BA94-42FF-A167-B7FCCF9342DF}" dt="2025-12-29T10:19:26.793" v="48" actId="478"/>
          <ac:spMkLst>
            <pc:docMk/>
            <pc:sldMk cId="2153698979" sldId="262"/>
            <ac:spMk id="3" creationId="{65517339-4342-428C-9249-C287F36591C2}"/>
          </ac:spMkLst>
        </pc:spChg>
        <pc:spChg chg="add mod">
          <ac:chgData name="Syed Rehan Ashraf" userId="bf1b3b78-86b5-4a32-9cac-ca47215dcf69" providerId="ADAL" clId="{86B5EC88-BA94-42FF-A167-B7FCCF9342DF}" dt="2025-12-29T10:20:37.802" v="141" actId="20577"/>
          <ac:spMkLst>
            <pc:docMk/>
            <pc:sldMk cId="2153698979" sldId="262"/>
            <ac:spMk id="7" creationId="{E7BA4C0F-86C3-4C3B-9DA8-FF631EE49471}"/>
          </ac:spMkLst>
        </pc:spChg>
        <pc:picChg chg="add mod">
          <ac:chgData name="Syed Rehan Ashraf" userId="bf1b3b78-86b5-4a32-9cac-ca47215dcf69" providerId="ADAL" clId="{86B5EC88-BA94-42FF-A167-B7FCCF9342DF}" dt="2025-12-29T10:19:39.037" v="54" actId="1076"/>
          <ac:picMkLst>
            <pc:docMk/>
            <pc:sldMk cId="2153698979" sldId="262"/>
            <ac:picMk id="5" creationId="{151CD22A-6607-4FEF-B238-C0EFB5350B8C}"/>
          </ac:picMkLst>
        </pc:picChg>
      </pc:sldChg>
      <pc:sldChg chg="add">
        <pc:chgData name="Syed Rehan Ashraf" userId="bf1b3b78-86b5-4a32-9cac-ca47215dcf69" providerId="ADAL" clId="{86B5EC88-BA94-42FF-A167-B7FCCF9342DF}" dt="2025-12-29T10:21:49.379" v="142"/>
        <pc:sldMkLst>
          <pc:docMk/>
          <pc:sldMk cId="0" sldId="263"/>
        </pc:sldMkLst>
      </pc:sldChg>
      <pc:sldChg chg="add">
        <pc:chgData name="Syed Rehan Ashraf" userId="bf1b3b78-86b5-4a32-9cac-ca47215dcf69" providerId="ADAL" clId="{86B5EC88-BA94-42FF-A167-B7FCCF9342DF}" dt="2025-12-29T10:21:49.379" v="142"/>
        <pc:sldMkLst>
          <pc:docMk/>
          <pc:sldMk cId="0" sldId="264"/>
        </pc:sldMkLst>
      </pc:sldChg>
      <pc:sldChg chg="add">
        <pc:chgData name="Syed Rehan Ashraf" userId="bf1b3b78-86b5-4a32-9cac-ca47215dcf69" providerId="ADAL" clId="{86B5EC88-BA94-42FF-A167-B7FCCF9342DF}" dt="2025-12-29T10:21:49.379" v="142"/>
        <pc:sldMkLst>
          <pc:docMk/>
          <pc:sldMk cId="0" sldId="265"/>
        </pc:sldMkLst>
      </pc:sldChg>
      <pc:sldChg chg="add">
        <pc:chgData name="Syed Rehan Ashraf" userId="bf1b3b78-86b5-4a32-9cac-ca47215dcf69" providerId="ADAL" clId="{86B5EC88-BA94-42FF-A167-B7FCCF9342DF}" dt="2025-12-29T10:21:49.379" v="142"/>
        <pc:sldMkLst>
          <pc:docMk/>
          <pc:sldMk cId="0" sldId="266"/>
        </pc:sldMkLst>
      </pc:sldChg>
      <pc:sldChg chg="add">
        <pc:chgData name="Syed Rehan Ashraf" userId="bf1b3b78-86b5-4a32-9cac-ca47215dcf69" providerId="ADAL" clId="{86B5EC88-BA94-42FF-A167-B7FCCF9342DF}" dt="2025-12-29T10:21:49.379" v="142"/>
        <pc:sldMkLst>
          <pc:docMk/>
          <pc:sldMk cId="0" sldId="267"/>
        </pc:sldMkLst>
      </pc:sldChg>
      <pc:sldChg chg="modSp add del mod">
        <pc:chgData name="Syed Rehan Ashraf" userId="bf1b3b78-86b5-4a32-9cac-ca47215dcf69" providerId="ADAL" clId="{86B5EC88-BA94-42FF-A167-B7FCCF9342DF}" dt="2025-12-29T10:23:56.114" v="148" actId="47"/>
        <pc:sldMkLst>
          <pc:docMk/>
          <pc:sldMk cId="0" sldId="268"/>
        </pc:sldMkLst>
        <pc:spChg chg="mod">
          <ac:chgData name="Syed Rehan Ashraf" userId="bf1b3b78-86b5-4a32-9cac-ca47215dcf69" providerId="ADAL" clId="{86B5EC88-BA94-42FF-A167-B7FCCF9342DF}" dt="2025-12-29T10:23:46.712" v="146" actId="21"/>
          <ac:spMkLst>
            <pc:docMk/>
            <pc:sldMk cId="0" sldId="268"/>
            <ac:spMk id="3" creationId="{00000000-0000-0000-0000-000000000000}"/>
          </ac:spMkLst>
        </pc:spChg>
      </pc:sldChg>
      <pc:sldChg chg="modSp add del mod">
        <pc:chgData name="Syed Rehan Ashraf" userId="bf1b3b78-86b5-4a32-9cac-ca47215dcf69" providerId="ADAL" clId="{86B5EC88-BA94-42FF-A167-B7FCCF9342DF}" dt="2025-12-29T10:23:53.214" v="147"/>
        <pc:sldMkLst>
          <pc:docMk/>
          <pc:sldMk cId="0" sldId="269"/>
        </pc:sldMkLst>
        <pc:spChg chg="mod">
          <ac:chgData name="Syed Rehan Ashraf" userId="bf1b3b78-86b5-4a32-9cac-ca47215dcf69" providerId="ADAL" clId="{86B5EC88-BA94-42FF-A167-B7FCCF9342DF}" dt="2025-12-29T10:23:53.214" v="147"/>
          <ac:spMkLst>
            <pc:docMk/>
            <pc:sldMk cId="0" sldId="269"/>
            <ac:spMk id="3" creationId="{00000000-0000-0000-0000-000000000000}"/>
          </ac:spMkLst>
        </pc:spChg>
      </pc:sldChg>
      <pc:sldChg chg="add del">
        <pc:chgData name="Syed Rehan Ashraf" userId="bf1b3b78-86b5-4a32-9cac-ca47215dcf69" providerId="ADAL" clId="{86B5EC88-BA94-42FF-A167-B7FCCF9342DF}" dt="2025-12-29T10:23:21.615" v="144"/>
        <pc:sldMkLst>
          <pc:docMk/>
          <pc:sldMk cId="0" sldId="270"/>
        </pc:sldMkLst>
      </pc:sldChg>
      <pc:sldChg chg="addSp delSp modSp new mod">
        <pc:chgData name="Syed Rehan Ashraf" userId="bf1b3b78-86b5-4a32-9cac-ca47215dcf69" providerId="ADAL" clId="{86B5EC88-BA94-42FF-A167-B7FCCF9342DF}" dt="2025-12-29T10:30:29.455" v="223" actId="14100"/>
        <pc:sldMkLst>
          <pc:docMk/>
          <pc:sldMk cId="93290068" sldId="270"/>
        </pc:sldMkLst>
        <pc:spChg chg="mod">
          <ac:chgData name="Syed Rehan Ashraf" userId="bf1b3b78-86b5-4a32-9cac-ca47215dcf69" providerId="ADAL" clId="{86B5EC88-BA94-42FF-A167-B7FCCF9342DF}" dt="2025-12-29T10:24:32.768" v="155" actId="1076"/>
          <ac:spMkLst>
            <pc:docMk/>
            <pc:sldMk cId="93290068" sldId="270"/>
            <ac:spMk id="2" creationId="{BE1BED1C-98F9-4877-9ECB-4B33853D3826}"/>
          </ac:spMkLst>
        </pc:spChg>
        <pc:spChg chg="mod">
          <ac:chgData name="Syed Rehan Ashraf" userId="bf1b3b78-86b5-4a32-9cac-ca47215dcf69" providerId="ADAL" clId="{86B5EC88-BA94-42FF-A167-B7FCCF9342DF}" dt="2025-12-29T10:26:00.822" v="180" actId="14100"/>
          <ac:spMkLst>
            <pc:docMk/>
            <pc:sldMk cId="93290068" sldId="270"/>
            <ac:spMk id="3" creationId="{AF68092A-999D-4464-9913-33A3BECC0CC9}"/>
          </ac:spMkLst>
        </pc:spChg>
        <pc:picChg chg="add mod">
          <ac:chgData name="Syed Rehan Ashraf" userId="bf1b3b78-86b5-4a32-9cac-ca47215dcf69" providerId="ADAL" clId="{86B5EC88-BA94-42FF-A167-B7FCCF9342DF}" dt="2025-12-29T10:30:00.624" v="214" actId="14100"/>
          <ac:picMkLst>
            <pc:docMk/>
            <pc:sldMk cId="93290068" sldId="270"/>
            <ac:picMk id="5" creationId="{2AABF19C-C60F-4E1B-8377-F7BBF214FB7D}"/>
          </ac:picMkLst>
        </pc:picChg>
        <pc:picChg chg="add del mod">
          <ac:chgData name="Syed Rehan Ashraf" userId="bf1b3b78-86b5-4a32-9cac-ca47215dcf69" providerId="ADAL" clId="{86B5EC88-BA94-42FF-A167-B7FCCF9342DF}" dt="2025-12-29T10:26:43.681" v="185" actId="22"/>
          <ac:picMkLst>
            <pc:docMk/>
            <pc:sldMk cId="93290068" sldId="270"/>
            <ac:picMk id="7" creationId="{99B7D42B-BB5E-444D-A46D-74FEA8677D87}"/>
          </ac:picMkLst>
        </pc:picChg>
        <pc:picChg chg="add mod">
          <ac:chgData name="Syed Rehan Ashraf" userId="bf1b3b78-86b5-4a32-9cac-ca47215dcf69" providerId="ADAL" clId="{86B5EC88-BA94-42FF-A167-B7FCCF9342DF}" dt="2025-12-29T10:30:29.455" v="223" actId="14100"/>
          <ac:picMkLst>
            <pc:docMk/>
            <pc:sldMk cId="93290068" sldId="270"/>
            <ac:picMk id="9" creationId="{BA439B65-264E-4539-A8C1-340280AEEECF}"/>
          </ac:picMkLst>
        </pc:picChg>
        <pc:picChg chg="add mod">
          <ac:chgData name="Syed Rehan Ashraf" userId="bf1b3b78-86b5-4a32-9cac-ca47215dcf69" providerId="ADAL" clId="{86B5EC88-BA94-42FF-A167-B7FCCF9342DF}" dt="2025-12-29T10:30:17.608" v="221" actId="14100"/>
          <ac:picMkLst>
            <pc:docMk/>
            <pc:sldMk cId="93290068" sldId="270"/>
            <ac:picMk id="11" creationId="{272E20BB-2047-4193-8895-B6C86E29FE46}"/>
          </ac:picMkLst>
        </pc:picChg>
        <pc:picChg chg="add mod">
          <ac:chgData name="Syed Rehan Ashraf" userId="bf1b3b78-86b5-4a32-9cac-ca47215dcf69" providerId="ADAL" clId="{86B5EC88-BA94-42FF-A167-B7FCCF9342DF}" dt="2025-12-29T10:30:14.224" v="220" actId="1076"/>
          <ac:picMkLst>
            <pc:docMk/>
            <pc:sldMk cId="93290068" sldId="270"/>
            <ac:picMk id="13" creationId="{3BCC04B3-463C-46D8-864F-36EB43FB03B0}"/>
          </ac:picMkLst>
        </pc:picChg>
        <pc:picChg chg="add mod">
          <ac:chgData name="Syed Rehan Ashraf" userId="bf1b3b78-86b5-4a32-9cac-ca47215dcf69" providerId="ADAL" clId="{86B5EC88-BA94-42FF-A167-B7FCCF9342DF}" dt="2025-12-29T10:30:11.576" v="219" actId="1076"/>
          <ac:picMkLst>
            <pc:docMk/>
            <pc:sldMk cId="93290068" sldId="270"/>
            <ac:picMk id="15" creationId="{B555F30F-A9F0-4562-BD5E-BAA59C731079}"/>
          </ac:picMkLst>
        </pc:picChg>
      </pc:sldChg>
      <pc:sldChg chg="add del">
        <pc:chgData name="Syed Rehan Ashraf" userId="bf1b3b78-86b5-4a32-9cac-ca47215dcf69" providerId="ADAL" clId="{86B5EC88-BA94-42FF-A167-B7FCCF9342DF}" dt="2025-12-29T10:23:21.615" v="144"/>
        <pc:sldMkLst>
          <pc:docMk/>
          <pc:sldMk cId="0" sldId="271"/>
        </pc:sldMkLst>
      </pc:sldChg>
      <pc:sldChg chg="add del">
        <pc:chgData name="Syed Rehan Ashraf" userId="bf1b3b78-86b5-4a32-9cac-ca47215dcf69" providerId="ADAL" clId="{86B5EC88-BA94-42FF-A167-B7FCCF9342DF}" dt="2025-12-29T10:23:21.615" v="144"/>
        <pc:sldMkLst>
          <pc:docMk/>
          <pc:sldMk cId="0" sldId="272"/>
        </pc:sldMkLst>
      </pc:sldChg>
      <pc:sldChg chg="add del">
        <pc:chgData name="Syed Rehan Ashraf" userId="bf1b3b78-86b5-4a32-9cac-ca47215dcf69" providerId="ADAL" clId="{86B5EC88-BA94-42FF-A167-B7FCCF9342DF}" dt="2025-12-29T10:23:21.615" v="144"/>
        <pc:sldMkLst>
          <pc:docMk/>
          <pc:sldMk cId="0" sldId="273"/>
        </pc:sldMkLst>
      </pc:sldChg>
      <pc:sldChg chg="add del">
        <pc:chgData name="Syed Rehan Ashraf" userId="bf1b3b78-86b5-4a32-9cac-ca47215dcf69" providerId="ADAL" clId="{86B5EC88-BA94-42FF-A167-B7FCCF9342DF}" dt="2025-12-29T10:23:21.615" v="144"/>
        <pc:sldMkLst>
          <pc:docMk/>
          <pc:sldMk cId="0" sldId="27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821C91D-CD0B-4C12-8CC9-8DACB0512E69}"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B54623-6786-4F14-AE0C-C7537F939C2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21C91D-CD0B-4C12-8CC9-8DACB0512E69}"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B54623-6786-4F14-AE0C-C7537F939C2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21C91D-CD0B-4C12-8CC9-8DACB0512E69}"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B54623-6786-4F14-AE0C-C7537F939C2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21C91D-CD0B-4C12-8CC9-8DACB0512E69}"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B54623-6786-4F14-AE0C-C7537F939C2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821C91D-CD0B-4C12-8CC9-8DACB0512E69}" type="datetimeFigureOut">
              <a:rPr lang="en-US" smtClean="0"/>
              <a:t>12/29/2025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B54623-6786-4F14-AE0C-C7537F939C2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21C91D-CD0B-4C12-8CC9-8DACB0512E69}" type="datetimeFigureOut">
              <a:rPr lang="en-US" smtClean="0"/>
              <a:t>12/29/2025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B54623-6786-4F14-AE0C-C7537F939C2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21C91D-CD0B-4C12-8CC9-8DACB0512E69}" type="datetimeFigureOut">
              <a:rPr lang="en-US" smtClean="0"/>
              <a:t>12/29/2025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B54623-6786-4F14-AE0C-C7537F939C2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21C91D-CD0B-4C12-8CC9-8DACB0512E69}"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B54623-6786-4F14-AE0C-C7537F939C2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21C91D-CD0B-4C12-8CC9-8DACB0512E69}"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B54623-6786-4F14-AE0C-C7537F939C2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21C91D-CD0B-4C12-8CC9-8DACB0512E69}"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B54623-6786-4F14-AE0C-C7537F939C2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21C91D-CD0B-4C12-8CC9-8DACB0512E69}"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B54623-6786-4F14-AE0C-C7537F939C2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21C91D-CD0B-4C12-8CC9-8DACB0512E69}" type="datetimeFigureOut">
              <a:rPr lang="en-US" smtClean="0"/>
              <a:t>12/29/2025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B54623-6786-4F14-AE0C-C7537F939C2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Material Handling Systems</a:t>
            </a:r>
          </a:p>
        </p:txBody>
      </p:sp>
      <p:sp>
        <p:nvSpPr>
          <p:cNvPr id="3" name="Subtitle 2"/>
          <p:cNvSpPr>
            <a:spLocks noGrp="1"/>
          </p:cNvSpPr>
          <p:nvPr>
            <p:ph type="subTitle" idx="1"/>
          </p:nvPr>
        </p:nvSpPr>
        <p:spPr/>
        <p:txBody>
          <a:bodyPr/>
          <a:lstStyle/>
          <a:p>
            <a:r>
              <a:rPr lang="en-US" dirty="0"/>
              <a:t>CH #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algn="l"/>
            <a:r>
              <a:rPr lang="en-US" dirty="0"/>
              <a:t>5.1 Introduction</a:t>
            </a:r>
          </a:p>
        </p:txBody>
      </p:sp>
      <p:sp>
        <p:nvSpPr>
          <p:cNvPr id="3" name="Content Placeholder 2"/>
          <p:cNvSpPr>
            <a:spLocks noGrp="1"/>
          </p:cNvSpPr>
          <p:nvPr>
            <p:ph idx="1"/>
          </p:nvPr>
        </p:nvSpPr>
        <p:spPr>
          <a:xfrm>
            <a:off x="457200" y="990600"/>
            <a:ext cx="8229600" cy="923330"/>
          </a:xfrm>
        </p:spPr>
        <p:txBody>
          <a:bodyPr wrap="square">
            <a:spAutoFit/>
          </a:bodyPr>
          <a:lstStyle/>
          <a:p>
            <a:pPr marL="0" algn="just"/>
            <a:r>
              <a:rPr lang="en-US" sz="1800" dirty="0"/>
              <a:t>The design of the material handling system is an important component of the facilities design problem. There exists a strong relationship between the layout design and the material handling design function.</a:t>
            </a:r>
          </a:p>
        </p:txBody>
      </p:sp>
      <p:sp>
        <p:nvSpPr>
          <p:cNvPr id="4" name="Title 1"/>
          <p:cNvSpPr txBox="1">
            <a:spLocks/>
          </p:cNvSpPr>
          <p:nvPr/>
        </p:nvSpPr>
        <p:spPr>
          <a:xfrm>
            <a:off x="228600" y="1905000"/>
            <a:ext cx="8686800" cy="715962"/>
          </a:xfrm>
          <a:prstGeom prst="rect">
            <a:avLst/>
          </a:prstGeom>
        </p:spPr>
        <p:txBody>
          <a:bodyPr vert="horz" lIns="91440" tIns="45720" rIns="91440" bIns="45720" rtlCol="0" anchor="ctr">
            <a:noAutofit/>
          </a:bodyPr>
          <a:lstStyle/>
          <a:p>
            <a:pPr lvl="0">
              <a:spcBef>
                <a:spcPct val="0"/>
              </a:spcBef>
            </a:pPr>
            <a:r>
              <a:rPr lang="en-US" sz="3600" dirty="0">
                <a:latin typeface="+mj-lt"/>
                <a:ea typeface="+mj-ea"/>
                <a:cs typeface="+mj-cs"/>
              </a:rPr>
              <a:t>5.2 Scope &amp; Definition of Material Handling</a:t>
            </a:r>
          </a:p>
        </p:txBody>
      </p:sp>
      <p:sp>
        <p:nvSpPr>
          <p:cNvPr id="5" name="Rectangle 4"/>
          <p:cNvSpPr/>
          <p:nvPr/>
        </p:nvSpPr>
        <p:spPr>
          <a:xfrm>
            <a:off x="304800" y="2667000"/>
            <a:ext cx="8458200" cy="4093428"/>
          </a:xfrm>
          <a:prstGeom prst="rect">
            <a:avLst/>
          </a:prstGeom>
        </p:spPr>
        <p:txBody>
          <a:bodyPr wrap="square">
            <a:spAutoFit/>
          </a:bodyPr>
          <a:lstStyle/>
          <a:p>
            <a:pPr marL="285750" indent="-285750" algn="just">
              <a:buFont typeface="Wingdings" panose="05000000000000000000" pitchFamily="2" charset="2"/>
              <a:buChar char="§"/>
            </a:pPr>
            <a:r>
              <a:rPr lang="en-US" sz="2000" dirty="0"/>
              <a:t>In a typical manufacturing facility:</a:t>
            </a:r>
          </a:p>
          <a:p>
            <a:pPr marL="742950" lvl="1" indent="-285750" algn="just">
              <a:buFont typeface="Arial" panose="020B0604020202020204" pitchFamily="34" charset="0"/>
              <a:buChar char="•"/>
            </a:pPr>
            <a:r>
              <a:rPr lang="en-US" sz="2000" dirty="0"/>
              <a:t>25% of the work-force is used in material handling</a:t>
            </a:r>
          </a:p>
          <a:p>
            <a:pPr marL="742950" lvl="1" indent="-285750" algn="just">
              <a:buFont typeface="Arial" panose="020B0604020202020204" pitchFamily="34" charset="0"/>
              <a:buChar char="•"/>
            </a:pPr>
            <a:r>
              <a:rPr lang="en-US" sz="2000" dirty="0"/>
              <a:t>55% of the factory floor is reserved for it</a:t>
            </a:r>
          </a:p>
          <a:p>
            <a:pPr marL="742950" lvl="1" indent="-285750" algn="just">
              <a:buFont typeface="Arial" panose="020B0604020202020204" pitchFamily="34" charset="0"/>
              <a:buChar char="•"/>
            </a:pPr>
            <a:r>
              <a:rPr lang="en-US" sz="2000" dirty="0"/>
              <a:t>87% of the production time!</a:t>
            </a:r>
          </a:p>
          <a:p>
            <a:pPr marL="285750" indent="-285750" algn="just">
              <a:buFont typeface="Arial" panose="020B0604020202020204" pitchFamily="34" charset="0"/>
              <a:buChar char="•"/>
            </a:pPr>
            <a:r>
              <a:rPr lang="en-US" sz="2000" dirty="0"/>
              <a:t>It may represent 15% to 70% of the total cost generated in the company Certainly, material handling is one of the first places to look for cost reduction. </a:t>
            </a:r>
          </a:p>
          <a:p>
            <a:pPr marL="285750" indent="-285750" algn="just">
              <a:buFont typeface="Arial" panose="020B0604020202020204" pitchFamily="34" charset="0"/>
              <a:buChar char="•"/>
            </a:pPr>
            <a:r>
              <a:rPr lang="en-US" sz="2000" dirty="0"/>
              <a:t>Material handling is also one of the first places to look for quality improvements. It has  been estimated that between 3 and 5% of all material handled becomes damaged.</a:t>
            </a:r>
          </a:p>
          <a:p>
            <a:pPr marL="285750" indent="-285750" algn="just">
              <a:buFont typeface="Arial" panose="020B0604020202020204" pitchFamily="34" charset="0"/>
              <a:buChar char="•"/>
            </a:pPr>
            <a:r>
              <a:rPr lang="en-US" sz="2000" dirty="0"/>
              <a:t>Material handling is a means by which </a:t>
            </a:r>
            <a:r>
              <a:rPr lang="en-US" sz="2000" i="1" dirty="0"/>
              <a:t>total manufacturing costs are reduced through </a:t>
            </a:r>
            <a:r>
              <a:rPr lang="en-US" sz="2000" dirty="0"/>
              <a:t>reduced inventories, improved safety, reduced pilferage, and improved material control.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2800" dirty="0"/>
              <a:t>5.2.1 Definition</a:t>
            </a:r>
          </a:p>
        </p:txBody>
      </p:sp>
      <p:sp>
        <p:nvSpPr>
          <p:cNvPr id="3" name="Content Placeholder 2"/>
          <p:cNvSpPr>
            <a:spLocks noGrp="1"/>
          </p:cNvSpPr>
          <p:nvPr>
            <p:ph idx="1"/>
          </p:nvPr>
        </p:nvSpPr>
        <p:spPr>
          <a:xfrm>
            <a:off x="457200" y="990600"/>
            <a:ext cx="8229600" cy="5638799"/>
          </a:xfrm>
        </p:spPr>
        <p:txBody>
          <a:bodyPr>
            <a:normAutofit lnSpcReduction="10000"/>
          </a:bodyPr>
          <a:lstStyle/>
          <a:p>
            <a:pPr algn="just">
              <a:buNone/>
            </a:pPr>
            <a:r>
              <a:rPr lang="en-US" sz="2400" dirty="0"/>
              <a:t>1. Material handling is the art and science of moving, storing, protecting, and controlling material.</a:t>
            </a:r>
          </a:p>
          <a:p>
            <a:pPr algn="just">
              <a:buNone/>
            </a:pPr>
            <a:r>
              <a:rPr lang="en-US" sz="2400" dirty="0"/>
              <a:t>2. Material handling means providing the right amount of the right material, in the right condition, at the right place, at the right time, in the right position, in the right sequence, and for the right cost, by using the right method(s).</a:t>
            </a:r>
          </a:p>
          <a:p>
            <a:pPr marL="0" indent="0" algn="just">
              <a:buNone/>
            </a:pPr>
            <a:r>
              <a:rPr lang="en-US" sz="2400" dirty="0"/>
              <a:t>	The definition defines the essentials of MHF which are</a:t>
            </a:r>
          </a:p>
          <a:p>
            <a:pPr marL="457200" indent="-457200" algn="just">
              <a:buFont typeface="+mj-lt"/>
              <a:buAutoNum type="arabicPeriod"/>
            </a:pPr>
            <a:r>
              <a:rPr lang="en-US" sz="2200" dirty="0"/>
              <a:t>Right Amount</a:t>
            </a:r>
          </a:p>
          <a:p>
            <a:pPr marL="457200" indent="-457200" algn="just">
              <a:buFont typeface="+mj-lt"/>
              <a:buAutoNum type="arabicPeriod"/>
            </a:pPr>
            <a:r>
              <a:rPr lang="en-US" sz="2200" dirty="0"/>
              <a:t>Right Material</a:t>
            </a:r>
          </a:p>
          <a:p>
            <a:pPr marL="457200" indent="-457200" algn="just">
              <a:buFont typeface="+mj-lt"/>
              <a:buAutoNum type="arabicPeriod"/>
            </a:pPr>
            <a:r>
              <a:rPr lang="en-US" sz="2200" dirty="0"/>
              <a:t>Right Condition.</a:t>
            </a:r>
          </a:p>
          <a:p>
            <a:pPr marL="457200" indent="-457200" algn="just">
              <a:buFont typeface="+mj-lt"/>
              <a:buAutoNum type="arabicPeriod"/>
            </a:pPr>
            <a:r>
              <a:rPr lang="en-US" sz="2200" dirty="0"/>
              <a:t>Right Sequence</a:t>
            </a:r>
          </a:p>
          <a:p>
            <a:pPr marL="457200" indent="-457200" algn="just">
              <a:buFont typeface="+mj-lt"/>
              <a:buAutoNum type="arabicPeriod"/>
            </a:pPr>
            <a:r>
              <a:rPr lang="en-US" sz="2200" dirty="0"/>
              <a:t>Right Orientation</a:t>
            </a:r>
          </a:p>
          <a:p>
            <a:pPr marL="457200" indent="-457200" algn="just">
              <a:buFont typeface="+mj-lt"/>
              <a:buAutoNum type="arabicPeriod"/>
            </a:pPr>
            <a:r>
              <a:rPr lang="en-US" sz="2200" dirty="0"/>
              <a:t>Right Place</a:t>
            </a:r>
          </a:p>
          <a:p>
            <a:pPr marL="457200" indent="-457200" algn="just">
              <a:buFont typeface="+mj-lt"/>
              <a:buAutoNum type="arabicPeriod"/>
            </a:pPr>
            <a:r>
              <a:rPr lang="en-US" sz="2200" dirty="0"/>
              <a:t>Right Time</a:t>
            </a:r>
          </a:p>
          <a:p>
            <a:pPr marL="457200" indent="-457200" algn="just">
              <a:buFont typeface="+mj-lt"/>
              <a:buAutoNum type="arabicPeriod"/>
            </a:pPr>
            <a:r>
              <a:rPr lang="en-US" sz="2200" dirty="0"/>
              <a:t>Right Cost </a:t>
            </a:r>
          </a:p>
          <a:p>
            <a:pPr marL="457200" indent="-457200" algn="just">
              <a:buFont typeface="+mj-lt"/>
              <a:buAutoNum type="arabicPeriod"/>
            </a:pPr>
            <a:endParaRPr lang="en-US" sz="2200" dirty="0"/>
          </a:p>
          <a:p>
            <a:pPr marL="457200" indent="-457200" algn="just">
              <a:buFont typeface="+mj-lt"/>
              <a:buAutoNum type="arabicPeriod"/>
            </a:pP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792162"/>
          </a:xfrm>
        </p:spPr>
        <p:txBody>
          <a:bodyPr>
            <a:normAutofit/>
          </a:bodyPr>
          <a:lstStyle/>
          <a:p>
            <a:pPr algn="l"/>
            <a:r>
              <a:rPr lang="en-US" sz="3200" dirty="0"/>
              <a:t>5.3 Material Handling Principles</a:t>
            </a:r>
          </a:p>
        </p:txBody>
      </p:sp>
      <p:sp>
        <p:nvSpPr>
          <p:cNvPr id="3" name="Content Placeholder 2"/>
          <p:cNvSpPr>
            <a:spLocks noGrp="1"/>
          </p:cNvSpPr>
          <p:nvPr>
            <p:ph idx="1"/>
          </p:nvPr>
        </p:nvSpPr>
        <p:spPr>
          <a:xfrm>
            <a:off x="228600" y="1219200"/>
            <a:ext cx="8763000" cy="5410200"/>
          </a:xfrm>
        </p:spPr>
        <p:txBody>
          <a:bodyPr>
            <a:noAutofit/>
          </a:bodyPr>
          <a:lstStyle/>
          <a:p>
            <a:pPr algn="just"/>
            <a:r>
              <a:rPr lang="en-US" sz="2000" dirty="0"/>
              <a:t>The material handling principles provide concise statements of the fundamentals of material handling practice. Condensed from decades of expert material handling experience, not unlike the material handling equation, they provide guidance and perspective to material handling system designers</a:t>
            </a:r>
          </a:p>
          <a:p>
            <a:pPr algn="just"/>
            <a:r>
              <a:rPr lang="en-US" sz="2000" dirty="0"/>
              <a:t>The ten MHP recognized by the collage Industrial Council on Material Handling.</a:t>
            </a:r>
          </a:p>
          <a:p>
            <a:pPr algn="just">
              <a:buNone/>
            </a:pPr>
            <a:r>
              <a:rPr lang="en-US" sz="2000" dirty="0"/>
              <a:t>1. </a:t>
            </a:r>
            <a:r>
              <a:rPr lang="en-US" sz="2000" b="1" i="1" dirty="0"/>
              <a:t>Planning Principle</a:t>
            </a:r>
            <a:r>
              <a:rPr lang="en-US" sz="2000" i="1" dirty="0"/>
              <a:t>. A plan is prescribed course of action that is defined in advance of </a:t>
            </a:r>
            <a:r>
              <a:rPr lang="en-US" sz="2000" dirty="0"/>
              <a:t>implementation. In its simplest form, a material handling plan defines the material (what) and the moves (when and where); together they define the method (how and who).</a:t>
            </a:r>
          </a:p>
          <a:p>
            <a:pPr algn="just">
              <a:buNone/>
            </a:pPr>
            <a:r>
              <a:rPr lang="en-US" sz="2000" dirty="0"/>
              <a:t>2</a:t>
            </a:r>
            <a:r>
              <a:rPr lang="en-US" sz="2000" b="1" dirty="0"/>
              <a:t>. </a:t>
            </a:r>
            <a:r>
              <a:rPr lang="en-US" sz="2000" b="1" i="1" dirty="0"/>
              <a:t>Standardization Principle</a:t>
            </a:r>
            <a:r>
              <a:rPr lang="en-US" sz="2000" i="1" dirty="0"/>
              <a:t>. Standardization means less variety and customization in </a:t>
            </a:r>
            <a:r>
              <a:rPr lang="en-US" sz="2000" dirty="0"/>
              <a:t>the methods and equipment employed. </a:t>
            </a:r>
          </a:p>
          <a:p>
            <a:pPr algn="just">
              <a:buNone/>
            </a:pPr>
            <a:r>
              <a:rPr lang="en-US" sz="2000" dirty="0"/>
              <a:t>3. </a:t>
            </a:r>
            <a:r>
              <a:rPr lang="en-US" sz="2000" b="1" i="1" dirty="0"/>
              <a:t>Work Principle</a:t>
            </a:r>
            <a:r>
              <a:rPr lang="en-US" sz="2000" i="1" dirty="0"/>
              <a:t>. The measure of work is material flow (volume, weight, or count per </a:t>
            </a:r>
            <a:r>
              <a:rPr lang="en-US" sz="2000" dirty="0"/>
              <a:t>unit of time) multiplied by the distance moved.</a:t>
            </a:r>
          </a:p>
          <a:p>
            <a:pPr algn="just">
              <a:buNone/>
            </a:pPr>
            <a:r>
              <a:rPr lang="en-US" sz="2000" dirty="0"/>
              <a:t>4. </a:t>
            </a:r>
            <a:r>
              <a:rPr lang="en-US" sz="2000" b="1" i="1" dirty="0"/>
              <a:t>Ergonomic Principle. </a:t>
            </a:r>
            <a:r>
              <a:rPr lang="en-US" sz="2000" i="1" dirty="0"/>
              <a:t>Ergonomics is the science that seeks to adapt work or working </a:t>
            </a:r>
            <a:r>
              <a:rPr lang="en-US" sz="2000" dirty="0"/>
              <a:t>conditions to suit the abilities of the worker.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Autofit/>
          </a:bodyPr>
          <a:lstStyle/>
          <a:p>
            <a:pPr>
              <a:buNone/>
            </a:pPr>
            <a:r>
              <a:rPr lang="en-US" sz="2000" dirty="0"/>
              <a:t>5</a:t>
            </a:r>
            <a:r>
              <a:rPr lang="en-US" sz="2000" b="1" dirty="0"/>
              <a:t>. Unit Load Principle</a:t>
            </a:r>
            <a:r>
              <a:rPr lang="en-US" sz="2000" dirty="0"/>
              <a:t>. A unit load is one that can be stored or moved as a single entity at one time, such as a pallet, container, or tote, regardless of the number of individual items that make up the load.</a:t>
            </a:r>
          </a:p>
          <a:p>
            <a:pPr>
              <a:buNone/>
            </a:pPr>
            <a:r>
              <a:rPr lang="en-US" sz="2000" dirty="0"/>
              <a:t>6. </a:t>
            </a:r>
            <a:r>
              <a:rPr lang="en-US" sz="2000" b="1" dirty="0"/>
              <a:t>Space Utilization</a:t>
            </a:r>
            <a:r>
              <a:rPr lang="en-US" sz="2000" dirty="0"/>
              <a:t>. Space in material handling is three-dimensional and therefore is counted as cubic space.</a:t>
            </a:r>
          </a:p>
          <a:p>
            <a:pPr>
              <a:buNone/>
            </a:pPr>
            <a:r>
              <a:rPr lang="en-US" sz="2000" dirty="0"/>
              <a:t>7. </a:t>
            </a:r>
            <a:r>
              <a:rPr lang="en-US" sz="2000" b="1" dirty="0"/>
              <a:t>System Principle</a:t>
            </a:r>
            <a:r>
              <a:rPr lang="en-US" sz="2000" dirty="0"/>
              <a:t>. A system is a collection of interacting and/or interdependent entities that form a unified whole.</a:t>
            </a:r>
          </a:p>
          <a:p>
            <a:pPr>
              <a:buNone/>
            </a:pPr>
            <a:r>
              <a:rPr lang="en-US" sz="2000" dirty="0"/>
              <a:t>8. </a:t>
            </a:r>
            <a:r>
              <a:rPr lang="en-US" sz="2000" b="1" dirty="0"/>
              <a:t>Automation Principle</a:t>
            </a:r>
            <a:r>
              <a:rPr lang="en-US" sz="2000" dirty="0"/>
              <a:t>. Automation is a technology concerned with the application of electromechanical devices, electronics, and computer-based systems to operate and control production and service activities. It suggests the linking of multiple mechanical operations to create a system that can be controlled by programmed instructions.</a:t>
            </a:r>
          </a:p>
          <a:p>
            <a:pPr>
              <a:buNone/>
            </a:pPr>
            <a:r>
              <a:rPr lang="en-US" sz="2000" dirty="0"/>
              <a:t>9. </a:t>
            </a:r>
            <a:r>
              <a:rPr lang="en-US" sz="2000" b="1" dirty="0"/>
              <a:t>Environmental Principle</a:t>
            </a:r>
            <a:r>
              <a:rPr lang="en-US" sz="2000" dirty="0"/>
              <a:t>. Environmental consciousness stems from a desire not to waster natural resources and to predict and eliminate the possible negative effects of our daily actions on the environment.</a:t>
            </a:r>
          </a:p>
          <a:p>
            <a:pPr>
              <a:buNone/>
            </a:pPr>
            <a:r>
              <a:rPr lang="en-US" sz="2000" dirty="0"/>
              <a:t>10. </a:t>
            </a:r>
            <a:r>
              <a:rPr lang="en-US" sz="2000" b="1" dirty="0"/>
              <a:t>Life-Cycle Cost Principle</a:t>
            </a:r>
            <a:r>
              <a:rPr lang="en-US" sz="2000" dirty="0"/>
              <a:t>. Life-cycle cost include all cash flows that will occur from the time the first dollar is spent to plan or procure a new piece of equipment, or to put in place a new method, until that method and/or equipment is totally replaced.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1CD22A-6607-4FEF-B238-C0EFB5350B8C}"/>
              </a:ext>
            </a:extLst>
          </p:cNvPr>
          <p:cNvPicPr>
            <a:picLocks noChangeAspect="1"/>
          </p:cNvPicPr>
          <p:nvPr/>
        </p:nvPicPr>
        <p:blipFill>
          <a:blip r:embed="rId2"/>
          <a:stretch>
            <a:fillRect/>
          </a:stretch>
        </p:blipFill>
        <p:spPr>
          <a:xfrm>
            <a:off x="304800" y="914400"/>
            <a:ext cx="8319581" cy="4114800"/>
          </a:xfrm>
          <a:prstGeom prst="rect">
            <a:avLst/>
          </a:prstGeom>
        </p:spPr>
      </p:pic>
      <p:sp>
        <p:nvSpPr>
          <p:cNvPr id="7" name="TextBox 6">
            <a:extLst>
              <a:ext uri="{FF2B5EF4-FFF2-40B4-BE49-F238E27FC236}">
                <a16:creationId xmlns:a16="http://schemas.microsoft.com/office/drawing/2014/main" id="{E7BA4C0F-86C3-4C3B-9DA8-FF631EE49471}"/>
              </a:ext>
            </a:extLst>
          </p:cNvPr>
          <p:cNvSpPr txBox="1"/>
          <p:nvPr/>
        </p:nvSpPr>
        <p:spPr>
          <a:xfrm>
            <a:off x="564609" y="5052848"/>
            <a:ext cx="8014781" cy="646331"/>
          </a:xfrm>
          <a:prstGeom prst="rect">
            <a:avLst/>
          </a:prstGeom>
          <a:noFill/>
        </p:spPr>
        <p:txBody>
          <a:bodyPr wrap="square">
            <a:spAutoFit/>
          </a:bodyPr>
          <a:lstStyle/>
          <a:p>
            <a:pPr>
              <a:buNone/>
            </a:pPr>
            <a:r>
              <a:rPr lang="en-US" sz="1800" b="1" dirty="0"/>
              <a:t>Based on </a:t>
            </a:r>
            <a:r>
              <a:rPr lang="en-US" b="1" dirty="0"/>
              <a:t>P</a:t>
            </a:r>
            <a:r>
              <a:rPr lang="en-US" sz="1800" b="1" dirty="0"/>
              <a:t>rincipals the Material Handling checklist is made.</a:t>
            </a:r>
          </a:p>
          <a:p>
            <a:pPr>
              <a:buNone/>
            </a:pPr>
            <a:r>
              <a:rPr lang="en-US" b="1" dirty="0"/>
              <a:t>Q. Make a check list of Material handling of UMT Examination Department</a:t>
            </a:r>
            <a:r>
              <a:rPr lang="en-US" sz="1800" b="1" dirty="0"/>
              <a:t> </a:t>
            </a:r>
          </a:p>
        </p:txBody>
      </p:sp>
    </p:spTree>
    <p:extLst>
      <p:ext uri="{BB962C8B-B14F-4D97-AF65-F5344CB8AC3E}">
        <p14:creationId xmlns:p14="http://schemas.microsoft.com/office/powerpoint/2010/main" val="2153698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pPr algn="l"/>
            <a:r>
              <a:rPr lang="en-US" sz="3600" dirty="0"/>
              <a:t>5.4 Designing Material Handling System</a:t>
            </a:r>
          </a:p>
        </p:txBody>
      </p:sp>
      <p:sp>
        <p:nvSpPr>
          <p:cNvPr id="3" name="Content Placeholder 2"/>
          <p:cNvSpPr>
            <a:spLocks noGrp="1"/>
          </p:cNvSpPr>
          <p:nvPr>
            <p:ph idx="1"/>
          </p:nvPr>
        </p:nvSpPr>
        <p:spPr>
          <a:xfrm>
            <a:off x="457200" y="1066800"/>
            <a:ext cx="8458200" cy="5562600"/>
          </a:xfrm>
        </p:spPr>
        <p:txBody>
          <a:bodyPr>
            <a:normAutofit lnSpcReduction="10000"/>
          </a:bodyPr>
          <a:lstStyle/>
          <a:p>
            <a:pPr algn="just"/>
            <a:r>
              <a:rPr lang="en-US" sz="2400" dirty="0"/>
              <a:t>In designing new or improved material handling systems, the six-phased are</a:t>
            </a:r>
          </a:p>
          <a:p>
            <a:pPr>
              <a:buNone/>
            </a:pPr>
            <a:r>
              <a:rPr lang="en-US" sz="2400" dirty="0"/>
              <a:t>1. Define the objectives and scope for the material handling system.</a:t>
            </a:r>
          </a:p>
          <a:p>
            <a:pPr>
              <a:buNone/>
            </a:pPr>
            <a:r>
              <a:rPr lang="en-US" sz="2400" dirty="0"/>
              <a:t>2. Analyze the requirements for moving, storing, protecting, and controlling material.</a:t>
            </a:r>
          </a:p>
          <a:p>
            <a:pPr>
              <a:buNone/>
            </a:pPr>
            <a:r>
              <a:rPr lang="en-US" sz="2400" dirty="0"/>
              <a:t>3. Generate alternative designs for meeting material handling system requirements.</a:t>
            </a:r>
          </a:p>
          <a:p>
            <a:pPr>
              <a:buNone/>
            </a:pPr>
            <a:r>
              <a:rPr lang="en-US" sz="2400" dirty="0"/>
              <a:t>4. Evaluate alternative material handling system designs.</a:t>
            </a:r>
          </a:p>
          <a:p>
            <a:pPr>
              <a:buNone/>
            </a:pPr>
            <a:r>
              <a:rPr lang="en-US" sz="2400" dirty="0"/>
              <a:t>5. Select the preferred design for moving, storing, protecting, and controlling material.</a:t>
            </a:r>
          </a:p>
          <a:p>
            <a:pPr>
              <a:buNone/>
            </a:pPr>
            <a:r>
              <a:rPr lang="en-US" sz="2400" dirty="0"/>
              <a:t>6. Implement the preferred design, including the selection of suppliers, training of personnel, installation, debug and startup of equipment, and periodic audits of system performance.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792162"/>
          </a:xfrm>
        </p:spPr>
        <p:txBody>
          <a:bodyPr>
            <a:noAutofit/>
          </a:bodyPr>
          <a:lstStyle/>
          <a:p>
            <a:pPr algn="l"/>
            <a:r>
              <a:rPr lang="en-US" sz="2800" dirty="0"/>
              <a:t>Developing Alternative Material Handling System Design</a:t>
            </a:r>
          </a:p>
        </p:txBody>
      </p:sp>
      <p:sp>
        <p:nvSpPr>
          <p:cNvPr id="3" name="Content Placeholder 2"/>
          <p:cNvSpPr>
            <a:spLocks noGrp="1"/>
          </p:cNvSpPr>
          <p:nvPr>
            <p:ph idx="1"/>
          </p:nvPr>
        </p:nvSpPr>
        <p:spPr>
          <a:xfrm>
            <a:off x="304800" y="1219201"/>
            <a:ext cx="8610600" cy="2743199"/>
          </a:xfrm>
        </p:spPr>
        <p:txBody>
          <a:bodyPr>
            <a:normAutofit lnSpcReduction="10000"/>
          </a:bodyPr>
          <a:lstStyle/>
          <a:p>
            <a:r>
              <a:rPr lang="en-US" sz="2600" dirty="0"/>
              <a:t>To stimulate the development of alternatives the, the ideal systems approach consists of four phase. </a:t>
            </a:r>
          </a:p>
          <a:p>
            <a:pPr marL="514350" indent="-514350">
              <a:buFont typeface="+mj-lt"/>
              <a:buAutoNum type="arabicPeriod"/>
            </a:pPr>
            <a:r>
              <a:rPr lang="en-US" sz="2600" i="1" dirty="0"/>
              <a:t>Aim for the theoretical ideal system.</a:t>
            </a:r>
          </a:p>
          <a:p>
            <a:pPr marL="514350" indent="-514350">
              <a:buFont typeface="+mj-lt"/>
              <a:buAutoNum type="arabicPeriod"/>
            </a:pPr>
            <a:r>
              <a:rPr lang="en-US" sz="2600" i="1" dirty="0"/>
              <a:t>Conceptualize the ultimate ideal system.</a:t>
            </a:r>
          </a:p>
          <a:p>
            <a:pPr marL="514350" indent="-514350">
              <a:buFont typeface="+mj-lt"/>
              <a:buAutoNum type="arabicPeriod"/>
            </a:pPr>
            <a:r>
              <a:rPr lang="en-US" sz="2600" i="1" dirty="0"/>
              <a:t>Design the technology workable ideal system.</a:t>
            </a:r>
          </a:p>
          <a:p>
            <a:pPr marL="514350" indent="-514350">
              <a:buFont typeface="+mj-lt"/>
              <a:buAutoNum type="arabicPeriod"/>
            </a:pPr>
            <a:r>
              <a:rPr lang="en-US" sz="2600" i="1" dirty="0"/>
              <a:t>Install the recommended system.</a:t>
            </a:r>
            <a:endParaRPr lang="en-US" sz="2600" dirty="0"/>
          </a:p>
        </p:txBody>
      </p:sp>
      <p:sp>
        <p:nvSpPr>
          <p:cNvPr id="4" name="Title 1"/>
          <p:cNvSpPr txBox="1">
            <a:spLocks/>
          </p:cNvSpPr>
          <p:nvPr/>
        </p:nvSpPr>
        <p:spPr>
          <a:xfrm>
            <a:off x="228600" y="3810000"/>
            <a:ext cx="8229600" cy="792162"/>
          </a:xfrm>
          <a:prstGeom prst="rect">
            <a:avLst/>
          </a:prstGeom>
        </p:spPr>
        <p:txBody>
          <a:bodyPr vert="horz" lIns="91440" tIns="45720" rIns="91440" bIns="45720" rtlCol="0" anchor="ctr">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mj-lt"/>
                <a:ea typeface="+mj-ea"/>
                <a:cs typeface="+mj-cs"/>
              </a:rPr>
              <a:t>Developing Alternative Material Handling System Design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553200"/>
          </a:xfrm>
        </p:spPr>
        <p:txBody>
          <a:bodyPr>
            <a:normAutofit fontScale="70000" lnSpcReduction="20000"/>
          </a:bodyPr>
          <a:lstStyle/>
          <a:p>
            <a:r>
              <a:rPr lang="en-US" b="1" u="sng" dirty="0"/>
              <a:t>1. Why</a:t>
            </a:r>
          </a:p>
          <a:p>
            <a:pPr>
              <a:buNone/>
            </a:pPr>
            <a:r>
              <a:rPr lang="en-US" dirty="0"/>
              <a:t>a. Is handling required?</a:t>
            </a:r>
          </a:p>
          <a:p>
            <a:pPr>
              <a:buNone/>
            </a:pPr>
            <a:r>
              <a:rPr lang="en-US" dirty="0"/>
              <a:t>b. Are operations to be performed as they are?</a:t>
            </a:r>
          </a:p>
          <a:p>
            <a:pPr>
              <a:buNone/>
            </a:pPr>
            <a:r>
              <a:rPr lang="en-US" dirty="0"/>
              <a:t>c. Are the operations to be performed in the given sequence?</a:t>
            </a:r>
          </a:p>
          <a:p>
            <a:pPr>
              <a:buNone/>
            </a:pPr>
            <a:r>
              <a:rPr lang="en-US" dirty="0"/>
              <a:t>d. Is material received as it is?</a:t>
            </a:r>
          </a:p>
          <a:p>
            <a:pPr>
              <a:buNone/>
            </a:pPr>
            <a:r>
              <a:rPr lang="en-US" dirty="0"/>
              <a:t>e. Is material shipped as it is?</a:t>
            </a:r>
          </a:p>
          <a:p>
            <a:pPr>
              <a:buNone/>
            </a:pPr>
            <a:r>
              <a:rPr lang="en-US" dirty="0"/>
              <a:t>f. Is material packaged as it is?</a:t>
            </a:r>
          </a:p>
          <a:p>
            <a:r>
              <a:rPr lang="en-US" b="1" u="sng" dirty="0"/>
              <a:t>2. What</a:t>
            </a:r>
          </a:p>
          <a:p>
            <a:pPr>
              <a:buNone/>
            </a:pPr>
            <a:r>
              <a:rPr lang="en-US" dirty="0"/>
              <a:t>a. Is to be moved?</a:t>
            </a:r>
          </a:p>
          <a:p>
            <a:pPr>
              <a:buNone/>
            </a:pPr>
            <a:r>
              <a:rPr lang="en-US" dirty="0"/>
              <a:t>b. Data are available and required?</a:t>
            </a:r>
          </a:p>
          <a:p>
            <a:pPr>
              <a:buNone/>
            </a:pPr>
            <a:r>
              <a:rPr lang="en-US" dirty="0"/>
              <a:t>c. Alternatives are available?</a:t>
            </a:r>
          </a:p>
          <a:p>
            <a:pPr>
              <a:buNone/>
            </a:pPr>
            <a:r>
              <a:rPr lang="en-US" dirty="0"/>
              <a:t>d. Are the benefits and </a:t>
            </a:r>
            <a:r>
              <a:rPr lang="en-US" dirty="0" err="1"/>
              <a:t>disbenefits</a:t>
            </a:r>
            <a:r>
              <a:rPr lang="en-US" dirty="0"/>
              <a:t> (costs) for each alternative?</a:t>
            </a:r>
          </a:p>
          <a:p>
            <a:pPr>
              <a:buNone/>
            </a:pPr>
            <a:r>
              <a:rPr lang="en-US" dirty="0"/>
              <a:t>e. Is the planning horizon for the system?</a:t>
            </a:r>
          </a:p>
          <a:p>
            <a:pPr>
              <a:buNone/>
            </a:pPr>
            <a:r>
              <a:rPr lang="en-US" dirty="0"/>
              <a:t>f. Should be mechanized/automated?</a:t>
            </a:r>
          </a:p>
          <a:p>
            <a:pPr>
              <a:buNone/>
            </a:pPr>
            <a:r>
              <a:rPr lang="en-US" dirty="0"/>
              <a:t>g. Should be done manually?</a:t>
            </a:r>
          </a:p>
          <a:p>
            <a:pPr>
              <a:buNone/>
            </a:pPr>
            <a:r>
              <a:rPr lang="en-US" dirty="0"/>
              <a:t>h. Shouldn’t be done at all?</a:t>
            </a:r>
          </a:p>
          <a:p>
            <a:pPr>
              <a:buNone/>
            </a:pPr>
            <a:r>
              <a:rPr lang="en-US" dirty="0" err="1"/>
              <a:t>i</a:t>
            </a:r>
            <a:r>
              <a:rPr lang="en-US" dirty="0"/>
              <a:t>. Other firms have related problems?</a:t>
            </a:r>
          </a:p>
          <a:p>
            <a:pPr>
              <a:buNone/>
            </a:pPr>
            <a:r>
              <a:rPr lang="en-US" dirty="0"/>
              <a:t>j. Criteria will be used to evaluate alternative designs?</a:t>
            </a:r>
          </a:p>
          <a:p>
            <a:pPr>
              <a:buNone/>
            </a:pPr>
            <a:r>
              <a:rPr lang="en-US" dirty="0"/>
              <a:t>k. Exceptions can be anticipated?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77000"/>
          </a:xfrm>
        </p:spPr>
        <p:txBody>
          <a:bodyPr>
            <a:normAutofit fontScale="77500" lnSpcReduction="20000"/>
          </a:bodyPr>
          <a:lstStyle/>
          <a:p>
            <a:r>
              <a:rPr lang="en-US" b="1" u="sng" dirty="0"/>
              <a:t>3. Where</a:t>
            </a:r>
          </a:p>
          <a:p>
            <a:pPr>
              <a:buNone/>
            </a:pPr>
            <a:r>
              <a:rPr lang="en-US" dirty="0"/>
              <a:t>a. Is material handling required?</a:t>
            </a:r>
          </a:p>
          <a:p>
            <a:pPr>
              <a:buNone/>
            </a:pPr>
            <a:r>
              <a:rPr lang="en-US" dirty="0"/>
              <a:t>b. Do material handling problem exist?</a:t>
            </a:r>
          </a:p>
          <a:p>
            <a:pPr>
              <a:buNone/>
            </a:pPr>
            <a:r>
              <a:rPr lang="en-US" dirty="0"/>
              <a:t>c. Should material handling equipment be used?</a:t>
            </a:r>
          </a:p>
          <a:p>
            <a:pPr>
              <a:buNone/>
            </a:pPr>
            <a:r>
              <a:rPr lang="en-US" dirty="0"/>
              <a:t>d. Should material handling responsibility exist in the organization?</a:t>
            </a:r>
          </a:p>
          <a:p>
            <a:pPr>
              <a:buNone/>
            </a:pPr>
            <a:r>
              <a:rPr lang="en-US" dirty="0"/>
              <a:t>e. Will future change occur?</a:t>
            </a:r>
          </a:p>
          <a:p>
            <a:pPr>
              <a:buNone/>
            </a:pPr>
            <a:r>
              <a:rPr lang="en-US" dirty="0"/>
              <a:t>f. Can operations be eliminated, combined, simplified?</a:t>
            </a:r>
          </a:p>
          <a:p>
            <a:pPr>
              <a:buNone/>
            </a:pPr>
            <a:r>
              <a:rPr lang="en-US" dirty="0"/>
              <a:t>g. Can assistance be obtained?</a:t>
            </a:r>
          </a:p>
          <a:p>
            <a:pPr>
              <a:buNone/>
            </a:pPr>
            <a:r>
              <a:rPr lang="en-US" dirty="0"/>
              <a:t>h. Should material be stored?</a:t>
            </a:r>
          </a:p>
          <a:p>
            <a:r>
              <a:rPr lang="en-US" b="1" u="sng" dirty="0"/>
              <a:t>4. When</a:t>
            </a:r>
          </a:p>
          <a:p>
            <a:pPr>
              <a:buNone/>
            </a:pPr>
            <a:r>
              <a:rPr lang="en-US" dirty="0"/>
              <a:t>a. Should material be moved?</a:t>
            </a:r>
          </a:p>
          <a:p>
            <a:pPr>
              <a:buNone/>
            </a:pPr>
            <a:r>
              <a:rPr lang="en-US" dirty="0"/>
              <a:t>b. Should I automate?</a:t>
            </a:r>
          </a:p>
          <a:p>
            <a:pPr>
              <a:buNone/>
            </a:pPr>
            <a:r>
              <a:rPr lang="en-US" dirty="0"/>
              <a:t>c. Should I eliminate?</a:t>
            </a:r>
          </a:p>
          <a:p>
            <a:pPr>
              <a:buNone/>
            </a:pPr>
            <a:r>
              <a:rPr lang="en-US" dirty="0"/>
              <a:t>d. Should I expand (contract)?</a:t>
            </a:r>
          </a:p>
          <a:p>
            <a:pPr>
              <a:buNone/>
            </a:pPr>
            <a:r>
              <a:rPr lang="en-US" dirty="0"/>
              <a:t>e. Should I consult vendors?</a:t>
            </a:r>
          </a:p>
          <a:p>
            <a:pPr>
              <a:buNone/>
            </a:pPr>
            <a:r>
              <a:rPr lang="en-US" dirty="0"/>
              <a:t>f. Should a </a:t>
            </a:r>
            <a:r>
              <a:rPr lang="en-US" dirty="0" err="1"/>
              <a:t>postaudit</a:t>
            </a:r>
            <a:r>
              <a:rPr lang="en-US" dirty="0"/>
              <a:t> of the system be performed?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rmAutofit fontScale="77500" lnSpcReduction="20000"/>
          </a:bodyPr>
          <a:lstStyle/>
          <a:p>
            <a:r>
              <a:rPr lang="en-US" b="1" u="sng" dirty="0"/>
              <a:t>5. How</a:t>
            </a:r>
          </a:p>
          <a:p>
            <a:pPr>
              <a:buNone/>
            </a:pPr>
            <a:r>
              <a:rPr lang="en-US" dirty="0"/>
              <a:t>a. Should material be moved?</a:t>
            </a:r>
          </a:p>
          <a:p>
            <a:pPr>
              <a:buNone/>
            </a:pPr>
            <a:r>
              <a:rPr lang="en-US" dirty="0"/>
              <a:t>b. Do I analyze the material handling problem?</a:t>
            </a:r>
          </a:p>
          <a:p>
            <a:pPr>
              <a:buNone/>
            </a:pPr>
            <a:r>
              <a:rPr lang="en-US" dirty="0"/>
              <a:t>c. Do I sell everyone involved?</a:t>
            </a:r>
          </a:p>
          <a:p>
            <a:pPr>
              <a:buNone/>
            </a:pPr>
            <a:r>
              <a:rPr lang="en-US" dirty="0"/>
              <a:t>d. Do I learn more about material handling?</a:t>
            </a:r>
          </a:p>
          <a:p>
            <a:pPr>
              <a:buNone/>
            </a:pPr>
            <a:r>
              <a:rPr lang="en-US" dirty="0"/>
              <a:t>e. Do I choose from among the alternatives available?</a:t>
            </a:r>
          </a:p>
          <a:p>
            <a:pPr>
              <a:buNone/>
            </a:pPr>
            <a:r>
              <a:rPr lang="en-US" dirty="0"/>
              <a:t>f. Do I measure material handling performance?</a:t>
            </a:r>
          </a:p>
          <a:p>
            <a:pPr>
              <a:buNone/>
            </a:pPr>
            <a:r>
              <a:rPr lang="en-US" dirty="0"/>
              <a:t>g. Should exceptions be accommodated?</a:t>
            </a:r>
          </a:p>
          <a:p>
            <a:r>
              <a:rPr lang="en-US" b="1" u="sng" dirty="0"/>
              <a:t>6. Who</a:t>
            </a:r>
          </a:p>
          <a:p>
            <a:pPr>
              <a:buNone/>
            </a:pPr>
            <a:r>
              <a:rPr lang="en-US" dirty="0"/>
              <a:t>a. Should be handling material?</a:t>
            </a:r>
          </a:p>
          <a:p>
            <a:pPr>
              <a:buNone/>
            </a:pPr>
            <a:r>
              <a:rPr lang="en-US" dirty="0"/>
              <a:t>b. Should be involved in designing the system?</a:t>
            </a:r>
          </a:p>
          <a:p>
            <a:pPr>
              <a:buNone/>
            </a:pPr>
            <a:r>
              <a:rPr lang="en-US" dirty="0"/>
              <a:t>c. Should be involved in evaluating the system?</a:t>
            </a:r>
          </a:p>
          <a:p>
            <a:pPr>
              <a:buNone/>
            </a:pPr>
            <a:r>
              <a:rPr lang="en-US" dirty="0"/>
              <a:t>d. Should be involved in installing the system?</a:t>
            </a:r>
          </a:p>
          <a:p>
            <a:pPr>
              <a:buNone/>
            </a:pPr>
            <a:r>
              <a:rPr lang="en-US" dirty="0"/>
              <a:t>e. Should be involved in auditing the system?</a:t>
            </a:r>
          </a:p>
          <a:p>
            <a:pPr>
              <a:buNone/>
            </a:pPr>
            <a:r>
              <a:rPr lang="en-US" dirty="0"/>
              <a:t>f. Should be invited to submit equipment quotes?</a:t>
            </a:r>
          </a:p>
          <a:p>
            <a:pPr>
              <a:buNone/>
            </a:pPr>
            <a:r>
              <a:rPr lang="en-US" dirty="0"/>
              <a:t>g. Has faced a similar problem in the past?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1"/>
            <a:ext cx="8610600" cy="2743200"/>
          </a:xfrm>
        </p:spPr>
        <p:txBody>
          <a:bodyPr>
            <a:normAutofit/>
          </a:bodyPr>
          <a:lstStyle/>
          <a:p>
            <a:r>
              <a:rPr lang="en-US" sz="2400" b="1" u="sng" dirty="0"/>
              <a:t>7. Which</a:t>
            </a:r>
          </a:p>
          <a:p>
            <a:pPr>
              <a:buNone/>
            </a:pPr>
            <a:r>
              <a:rPr lang="en-US" sz="2400" dirty="0"/>
              <a:t>a. Operations are necessary?</a:t>
            </a:r>
          </a:p>
          <a:p>
            <a:pPr>
              <a:buNone/>
            </a:pPr>
            <a:r>
              <a:rPr lang="en-US" sz="2400" dirty="0"/>
              <a:t>b. Problems should be studied first?</a:t>
            </a:r>
          </a:p>
          <a:p>
            <a:pPr>
              <a:buNone/>
            </a:pPr>
            <a:r>
              <a:rPr lang="en-US" sz="2400" dirty="0"/>
              <a:t>c. Type equipment (if any) should be considered?</a:t>
            </a:r>
          </a:p>
          <a:p>
            <a:pPr>
              <a:buNone/>
            </a:pPr>
            <a:r>
              <a:rPr lang="en-US" sz="2400" dirty="0"/>
              <a:t>d. Materials should have real-time control?</a:t>
            </a:r>
          </a:p>
          <a:p>
            <a:pPr>
              <a:buNone/>
            </a:pPr>
            <a:r>
              <a:rPr lang="en-US" sz="2400" dirty="0"/>
              <a:t>e. Alternative is preferred?</a:t>
            </a:r>
          </a:p>
        </p:txBody>
      </p:sp>
      <p:pic>
        <p:nvPicPr>
          <p:cNvPr id="1026" name="Picture 2"/>
          <p:cNvPicPr>
            <a:picLocks noChangeAspect="1" noChangeArrowheads="1"/>
          </p:cNvPicPr>
          <p:nvPr/>
        </p:nvPicPr>
        <p:blipFill>
          <a:blip r:embed="rId2"/>
          <a:srcRect/>
          <a:stretch>
            <a:fillRect/>
          </a:stretch>
        </p:blipFill>
        <p:spPr bwMode="auto">
          <a:xfrm>
            <a:off x="228600" y="2895600"/>
            <a:ext cx="8763000" cy="360045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477000"/>
          </a:xfrm>
        </p:spPr>
        <p:txBody>
          <a:bodyPr>
            <a:normAutofit/>
          </a:bodyPr>
          <a:lstStyle/>
          <a:p>
            <a:pPr algn="just"/>
            <a:r>
              <a:rPr lang="en-US" sz="2400" dirty="0"/>
              <a:t>The combination of material characteristics and move or flow requirements is referred to as </a:t>
            </a:r>
            <a:r>
              <a:rPr lang="en-US" sz="2400" b="1" dirty="0"/>
              <a:t>material flow</a:t>
            </a:r>
            <a:r>
              <a:rPr lang="en-US" sz="2400" dirty="0"/>
              <a:t>. Hence, to develop material flow system requirements, one should focus on the material to be handled, stored, and controlled and the flow or throughput requirements for the system.</a:t>
            </a:r>
          </a:p>
          <a:p>
            <a:pPr algn="just"/>
            <a:r>
              <a:rPr lang="en-US" sz="2400" dirty="0"/>
              <a:t>To develop material flow system requirements, one should focus on the material to be handled, stored, and controlled and the flow or throughput requirements for the system.</a:t>
            </a:r>
          </a:p>
          <a:p>
            <a:r>
              <a:rPr lang="en-US" sz="2400" dirty="0"/>
              <a:t>Material flow is transformed to material handling by the method of handling, storing, and controlling the material.</a:t>
            </a:r>
          </a:p>
          <a:p>
            <a:r>
              <a:rPr lang="en-US" sz="2400" dirty="0"/>
              <a:t>Material Handling had advantages and disadvantages. </a:t>
            </a:r>
          </a:p>
          <a:p>
            <a:r>
              <a:rPr lang="en-US" sz="2400" dirty="0"/>
              <a:t>An alternative method of representing  questioning attitude in designing material handling systems is given by</a:t>
            </a:r>
          </a:p>
          <a:p>
            <a:endParaRPr lang="en-US" sz="2400" dirty="0"/>
          </a:p>
          <a:p>
            <a:endParaRPr lang="en-US" sz="2400" dirty="0"/>
          </a:p>
          <a:p>
            <a:endParaRPr lang="en-US" sz="2400" dirty="0"/>
          </a:p>
          <a:p>
            <a:endParaRPr lang="en-US" sz="2400" dirty="0"/>
          </a:p>
        </p:txBody>
      </p:sp>
      <p:pic>
        <p:nvPicPr>
          <p:cNvPr id="1026" name="Picture 2"/>
          <p:cNvPicPr>
            <a:picLocks noChangeAspect="1" noChangeArrowheads="1"/>
          </p:cNvPicPr>
          <p:nvPr/>
        </p:nvPicPr>
        <p:blipFill>
          <a:blip r:embed="rId2"/>
          <a:srcRect t="16162" b="19192"/>
          <a:stretch>
            <a:fillRect/>
          </a:stretch>
        </p:blipFill>
        <p:spPr bwMode="auto">
          <a:xfrm>
            <a:off x="2362200" y="4648200"/>
            <a:ext cx="4010025" cy="6096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BED1C-98F9-4877-9ECB-4B33853D3826}"/>
              </a:ext>
            </a:extLst>
          </p:cNvPr>
          <p:cNvSpPr>
            <a:spLocks noGrp="1"/>
          </p:cNvSpPr>
          <p:nvPr>
            <p:ph type="title"/>
          </p:nvPr>
        </p:nvSpPr>
        <p:spPr>
          <a:xfrm>
            <a:off x="457200" y="152400"/>
            <a:ext cx="8229600" cy="715962"/>
          </a:xfrm>
        </p:spPr>
        <p:txBody>
          <a:bodyPr>
            <a:normAutofit fontScale="90000"/>
          </a:bodyPr>
          <a:lstStyle/>
          <a:p>
            <a:r>
              <a:rPr lang="en-US" dirty="0"/>
              <a:t>Material Handling Planning Chart</a:t>
            </a:r>
          </a:p>
        </p:txBody>
      </p:sp>
      <p:sp>
        <p:nvSpPr>
          <p:cNvPr id="3" name="Content Placeholder 2">
            <a:extLst>
              <a:ext uri="{FF2B5EF4-FFF2-40B4-BE49-F238E27FC236}">
                <a16:creationId xmlns:a16="http://schemas.microsoft.com/office/drawing/2014/main" id="{AF68092A-999D-4464-9913-33A3BECC0CC9}"/>
              </a:ext>
            </a:extLst>
          </p:cNvPr>
          <p:cNvSpPr>
            <a:spLocks noGrp="1"/>
          </p:cNvSpPr>
          <p:nvPr>
            <p:ph idx="1"/>
          </p:nvPr>
        </p:nvSpPr>
        <p:spPr>
          <a:xfrm>
            <a:off x="457200" y="868363"/>
            <a:ext cx="8229600" cy="715962"/>
          </a:xfrm>
        </p:spPr>
        <p:txBody>
          <a:bodyPr/>
          <a:lstStyle/>
          <a:p>
            <a:pPr>
              <a:buFont typeface="+mj-lt"/>
              <a:buAutoNum type="arabicPeriod"/>
            </a:pPr>
            <a:r>
              <a:rPr lang="en-US" sz="1800" dirty="0">
                <a:latin typeface="Calibri" panose="020F0502020204030204" pitchFamily="34" charset="0"/>
              </a:rPr>
              <a:t>T</a:t>
            </a:r>
            <a:r>
              <a:rPr lang="en-US" sz="1800" b="0" i="0" u="none" strike="noStrike" baseline="0" dirty="0">
                <a:latin typeface="Calibri" panose="020F0502020204030204" pitchFamily="34" charset="0"/>
              </a:rPr>
              <a:t>o gather information pertaining to material handling and </a:t>
            </a:r>
          </a:p>
          <a:p>
            <a:pPr>
              <a:buFont typeface="+mj-lt"/>
              <a:buAutoNum type="arabicPeriod"/>
            </a:pPr>
            <a:r>
              <a:rPr lang="en-US" sz="1800" b="0" i="0" u="none" strike="noStrike" baseline="0" dirty="0">
                <a:latin typeface="Calibri" panose="020F0502020204030204" pitchFamily="34" charset="0"/>
              </a:rPr>
              <a:t>To analyze the data in order to develop alternative solutions.</a:t>
            </a:r>
            <a:endParaRPr lang="en-US" dirty="0"/>
          </a:p>
        </p:txBody>
      </p:sp>
      <p:pic>
        <p:nvPicPr>
          <p:cNvPr id="5" name="Picture 4">
            <a:extLst>
              <a:ext uri="{FF2B5EF4-FFF2-40B4-BE49-F238E27FC236}">
                <a16:creationId xmlns:a16="http://schemas.microsoft.com/office/drawing/2014/main" id="{2AABF19C-C60F-4E1B-8377-F7BBF214FB7D}"/>
              </a:ext>
            </a:extLst>
          </p:cNvPr>
          <p:cNvPicPr>
            <a:picLocks noChangeAspect="1"/>
          </p:cNvPicPr>
          <p:nvPr/>
        </p:nvPicPr>
        <p:blipFill>
          <a:blip r:embed="rId2"/>
          <a:stretch>
            <a:fillRect/>
          </a:stretch>
        </p:blipFill>
        <p:spPr>
          <a:xfrm>
            <a:off x="304800" y="1584325"/>
            <a:ext cx="8686800" cy="5108731"/>
          </a:xfrm>
          <a:prstGeom prst="rect">
            <a:avLst/>
          </a:prstGeom>
        </p:spPr>
      </p:pic>
      <p:pic>
        <p:nvPicPr>
          <p:cNvPr id="9" name="Picture 8">
            <a:extLst>
              <a:ext uri="{FF2B5EF4-FFF2-40B4-BE49-F238E27FC236}">
                <a16:creationId xmlns:a16="http://schemas.microsoft.com/office/drawing/2014/main" id="{BA439B65-264E-4539-A8C1-340280AEEECF}"/>
              </a:ext>
            </a:extLst>
          </p:cNvPr>
          <p:cNvPicPr>
            <a:picLocks noChangeAspect="1"/>
          </p:cNvPicPr>
          <p:nvPr/>
        </p:nvPicPr>
        <p:blipFill>
          <a:blip r:embed="rId3">
            <a:alphaModFix amt="70000"/>
          </a:blip>
          <a:stretch>
            <a:fillRect/>
          </a:stretch>
        </p:blipFill>
        <p:spPr>
          <a:xfrm>
            <a:off x="304801" y="1828800"/>
            <a:ext cx="3930734" cy="471487"/>
          </a:xfrm>
          <a:prstGeom prst="rect">
            <a:avLst/>
          </a:prstGeom>
        </p:spPr>
      </p:pic>
      <p:pic>
        <p:nvPicPr>
          <p:cNvPr id="11" name="Picture 10">
            <a:extLst>
              <a:ext uri="{FF2B5EF4-FFF2-40B4-BE49-F238E27FC236}">
                <a16:creationId xmlns:a16="http://schemas.microsoft.com/office/drawing/2014/main" id="{272E20BB-2047-4193-8895-B6C86E29FE46}"/>
              </a:ext>
            </a:extLst>
          </p:cNvPr>
          <p:cNvPicPr>
            <a:picLocks noChangeAspect="1"/>
          </p:cNvPicPr>
          <p:nvPr/>
        </p:nvPicPr>
        <p:blipFill>
          <a:blip r:embed="rId4">
            <a:alphaModFix amt="70000"/>
          </a:blip>
          <a:stretch>
            <a:fillRect/>
          </a:stretch>
        </p:blipFill>
        <p:spPr>
          <a:xfrm>
            <a:off x="4282966" y="1828800"/>
            <a:ext cx="2648338" cy="471487"/>
          </a:xfrm>
          <a:prstGeom prst="rect">
            <a:avLst/>
          </a:prstGeom>
        </p:spPr>
      </p:pic>
      <p:pic>
        <p:nvPicPr>
          <p:cNvPr id="13" name="Picture 12">
            <a:extLst>
              <a:ext uri="{FF2B5EF4-FFF2-40B4-BE49-F238E27FC236}">
                <a16:creationId xmlns:a16="http://schemas.microsoft.com/office/drawing/2014/main" id="{3BCC04B3-463C-46D8-864F-36EB43FB03B0}"/>
              </a:ext>
            </a:extLst>
          </p:cNvPr>
          <p:cNvPicPr>
            <a:picLocks noChangeAspect="1"/>
          </p:cNvPicPr>
          <p:nvPr/>
        </p:nvPicPr>
        <p:blipFill>
          <a:blip r:embed="rId5">
            <a:alphaModFix amt="70000"/>
          </a:blip>
          <a:stretch>
            <a:fillRect/>
          </a:stretch>
        </p:blipFill>
        <p:spPr>
          <a:xfrm>
            <a:off x="6978735" y="1820178"/>
            <a:ext cx="877748" cy="463604"/>
          </a:xfrm>
          <a:prstGeom prst="rect">
            <a:avLst/>
          </a:prstGeom>
        </p:spPr>
      </p:pic>
      <p:pic>
        <p:nvPicPr>
          <p:cNvPr id="15" name="Picture 14">
            <a:extLst>
              <a:ext uri="{FF2B5EF4-FFF2-40B4-BE49-F238E27FC236}">
                <a16:creationId xmlns:a16="http://schemas.microsoft.com/office/drawing/2014/main" id="{B555F30F-A9F0-4562-BD5E-BAA59C731079}"/>
              </a:ext>
            </a:extLst>
          </p:cNvPr>
          <p:cNvPicPr>
            <a:picLocks noChangeAspect="1"/>
          </p:cNvPicPr>
          <p:nvPr/>
        </p:nvPicPr>
        <p:blipFill>
          <a:blip r:embed="rId6">
            <a:alphaModFix amt="70000"/>
          </a:blip>
          <a:stretch>
            <a:fillRect/>
          </a:stretch>
        </p:blipFill>
        <p:spPr>
          <a:xfrm>
            <a:off x="7903914" y="1828800"/>
            <a:ext cx="1087686" cy="463604"/>
          </a:xfrm>
          <a:prstGeom prst="rect">
            <a:avLst/>
          </a:prstGeom>
        </p:spPr>
      </p:pic>
    </p:spTree>
    <p:extLst>
      <p:ext uri="{BB962C8B-B14F-4D97-AF65-F5344CB8AC3E}">
        <p14:creationId xmlns:p14="http://schemas.microsoft.com/office/powerpoint/2010/main" val="93290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1478</Words>
  <Application>Microsoft Office PowerPoint</Application>
  <PresentationFormat>On-screen Show (4:3)</PresentationFormat>
  <Paragraphs>121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Wingdings</vt:lpstr>
      <vt:lpstr>Office Theme</vt:lpstr>
      <vt:lpstr>Material Handling Systems</vt:lpstr>
      <vt:lpstr>5.1 Introduction</vt:lpstr>
      <vt:lpstr>5.2.1 Definition</vt:lpstr>
      <vt:lpstr>5.3 Material Handling Principles</vt:lpstr>
      <vt:lpstr>PowerPoint Presentation</vt:lpstr>
      <vt:lpstr>PowerPoint Presentation</vt:lpstr>
      <vt:lpstr>5.4 Designing Material Handling System</vt:lpstr>
      <vt:lpstr>Developing Alternative Material Handling System Design</vt:lpstr>
      <vt:lpstr>PowerPoint Presentation</vt:lpstr>
      <vt:lpstr>PowerPoint Presentation</vt:lpstr>
      <vt:lpstr>PowerPoint Presentation</vt:lpstr>
      <vt:lpstr>PowerPoint Presentation</vt:lpstr>
      <vt:lpstr>PowerPoint Presentation</vt:lpstr>
      <vt:lpstr>Material Handling Planning Chart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 Handling Systems</dc:title>
  <dc:creator>8995</dc:creator>
  <cp:lastModifiedBy>Syed Rehan Ashraf</cp:lastModifiedBy>
  <cp:revision>10</cp:revision>
  <dcterms:created xsi:type="dcterms:W3CDTF">2017-10-26T07:00:10Z</dcterms:created>
  <dcterms:modified xsi:type="dcterms:W3CDTF">2025-12-29T10:30:50Z</dcterms:modified>
</cp:coreProperties>
</file>