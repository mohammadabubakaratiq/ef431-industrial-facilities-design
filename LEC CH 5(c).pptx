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312" r:id="rId41"/>
    <p:sldId id="313" r:id="rId42"/>
    <p:sldId id="314" r:id="rId43"/>
    <p:sldId id="316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 Rehan Ashraf" userId="bf1b3b78-86b5-4a32-9cac-ca47215dcf69" providerId="ADAL" clId="{A3EFFC9B-8566-4B3E-82B4-A88928DAEDAF}"/>
    <pc:docChg chg="delSld">
      <pc:chgData name="Syed Rehan Ashraf" userId="bf1b3b78-86b5-4a32-9cac-ca47215dcf69" providerId="ADAL" clId="{A3EFFC9B-8566-4B3E-82B4-A88928DAEDAF}" dt="2026-01-05T10:31:36.464" v="2" actId="47"/>
      <pc:docMkLst>
        <pc:docMk/>
      </pc:docMkLst>
      <pc:sldChg chg="del">
        <pc:chgData name="Syed Rehan Ashraf" userId="bf1b3b78-86b5-4a32-9cac-ca47215dcf69" providerId="ADAL" clId="{A3EFFC9B-8566-4B3E-82B4-A88928DAEDAF}" dt="2026-01-05T10:31:35.142" v="0" actId="47"/>
        <pc:sldMkLst>
          <pc:docMk/>
          <pc:sldMk cId="0" sldId="268"/>
        </pc:sldMkLst>
      </pc:sldChg>
      <pc:sldChg chg="del">
        <pc:chgData name="Syed Rehan Ashraf" userId="bf1b3b78-86b5-4a32-9cac-ca47215dcf69" providerId="ADAL" clId="{A3EFFC9B-8566-4B3E-82B4-A88928DAEDAF}" dt="2026-01-05T10:31:35.142" v="0" actId="47"/>
        <pc:sldMkLst>
          <pc:docMk/>
          <pc:sldMk cId="0" sldId="269"/>
        </pc:sldMkLst>
      </pc:sldChg>
      <pc:sldChg chg="del">
        <pc:chgData name="Syed Rehan Ashraf" userId="bf1b3b78-86b5-4a32-9cac-ca47215dcf69" providerId="ADAL" clId="{A3EFFC9B-8566-4B3E-82B4-A88928DAEDAF}" dt="2026-01-05T10:31:35.142" v="0" actId="47"/>
        <pc:sldMkLst>
          <pc:docMk/>
          <pc:sldMk cId="0" sldId="270"/>
        </pc:sldMkLst>
      </pc:sldChg>
      <pc:sldChg chg="del">
        <pc:chgData name="Syed Rehan Ashraf" userId="bf1b3b78-86b5-4a32-9cac-ca47215dcf69" providerId="ADAL" clId="{A3EFFC9B-8566-4B3E-82B4-A88928DAEDAF}" dt="2026-01-05T10:31:35.142" v="0" actId="47"/>
        <pc:sldMkLst>
          <pc:docMk/>
          <pc:sldMk cId="0" sldId="271"/>
        </pc:sldMkLst>
      </pc:sldChg>
      <pc:sldChg chg="del">
        <pc:chgData name="Syed Rehan Ashraf" userId="bf1b3b78-86b5-4a32-9cac-ca47215dcf69" providerId="ADAL" clId="{A3EFFC9B-8566-4B3E-82B4-A88928DAEDAF}" dt="2026-01-05T10:31:35.918" v="1" actId="47"/>
        <pc:sldMkLst>
          <pc:docMk/>
          <pc:sldMk cId="0" sldId="272"/>
        </pc:sldMkLst>
      </pc:sldChg>
      <pc:sldChg chg="del">
        <pc:chgData name="Syed Rehan Ashraf" userId="bf1b3b78-86b5-4a32-9cac-ca47215dcf69" providerId="ADAL" clId="{A3EFFC9B-8566-4B3E-82B4-A88928DAEDAF}" dt="2026-01-05T10:31:36.464" v="2" actId="47"/>
        <pc:sldMkLst>
          <pc:docMk/>
          <pc:sldMk cId="0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1C91D-CD0B-4C12-8CC9-8DACB0512E6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54623-6786-4F14-AE0C-C7537F939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1C91D-CD0B-4C12-8CC9-8DACB0512E6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54623-6786-4F14-AE0C-C7537F939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1C91D-CD0B-4C12-8CC9-8DACB0512E6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54623-6786-4F14-AE0C-C7537F939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1C91D-CD0B-4C12-8CC9-8DACB0512E6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54623-6786-4F14-AE0C-C7537F939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1C91D-CD0B-4C12-8CC9-8DACB0512E6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54623-6786-4F14-AE0C-C7537F939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1C91D-CD0B-4C12-8CC9-8DACB0512E6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54623-6786-4F14-AE0C-C7537F939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1C91D-CD0B-4C12-8CC9-8DACB0512E6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54623-6786-4F14-AE0C-C7537F939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1C91D-CD0B-4C12-8CC9-8DACB0512E6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54623-6786-4F14-AE0C-C7537F939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1C91D-CD0B-4C12-8CC9-8DACB0512E6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54623-6786-4F14-AE0C-C7537F939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1C91D-CD0B-4C12-8CC9-8DACB0512E6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54623-6786-4F14-AE0C-C7537F939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1C91D-CD0B-4C12-8CC9-8DACB0512E6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54623-6786-4F14-AE0C-C7537F939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1C91D-CD0B-4C12-8CC9-8DACB0512E6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54623-6786-4F14-AE0C-C7537F939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jpeg"/><Relationship Id="rId5" Type="http://schemas.openxmlformats.org/officeDocument/2006/relationships/image" Target="../media/image46.jpeg"/><Relationship Id="rId4" Type="http://schemas.openxmlformats.org/officeDocument/2006/relationships/image" Target="../media/image49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jpeg"/><Relationship Id="rId4" Type="http://schemas.openxmlformats.org/officeDocument/2006/relationships/image" Target="../media/image58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7" Type="http://schemas.openxmlformats.org/officeDocument/2006/relationships/image" Target="../media/image65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jpeg"/><Relationship Id="rId5" Type="http://schemas.openxmlformats.org/officeDocument/2006/relationships/image" Target="../media/image63.jpeg"/><Relationship Id="rId4" Type="http://schemas.openxmlformats.org/officeDocument/2006/relationships/image" Target="../media/image62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9.jpeg"/><Relationship Id="rId4" Type="http://schemas.openxmlformats.org/officeDocument/2006/relationships/image" Target="../media/image68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jpeg"/><Relationship Id="rId5" Type="http://schemas.openxmlformats.org/officeDocument/2006/relationships/image" Target="../media/image78.jpeg"/><Relationship Id="rId4" Type="http://schemas.openxmlformats.org/officeDocument/2006/relationships/image" Target="../media/image77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3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6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0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4.jpeg"/><Relationship Id="rId4" Type="http://schemas.openxmlformats.org/officeDocument/2006/relationships/image" Target="../media/image9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Material Handling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 #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</a:rPr>
              <a:t>Material Handling Equipment</a:t>
            </a:r>
          </a:p>
        </p:txBody>
      </p:sp>
      <p:sp>
        <p:nvSpPr>
          <p:cNvPr id="10243" name="TextBox 3"/>
          <p:cNvSpPr txBox="1">
            <a:spLocks noChangeArrowheads="1"/>
          </p:cNvSpPr>
          <p:nvPr/>
        </p:nvSpPr>
        <p:spPr bwMode="auto">
          <a:xfrm>
            <a:off x="533400" y="911225"/>
            <a:ext cx="8040688" cy="569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en-US" sz="2600" b="1">
                <a:latin typeface="Arial" charset="0"/>
              </a:rPr>
              <a:t>Between fixed points over a fixed path</a:t>
            </a:r>
          </a:p>
          <a:p>
            <a:pPr marL="800100" lvl="1" indent="-342900">
              <a:buFontTx/>
              <a:buAutoNum type="arabicPeriod"/>
            </a:pPr>
            <a:r>
              <a:rPr lang="en-US" sz="2600">
                <a:latin typeface="Arial" charset="0"/>
              </a:rPr>
              <a:t>Belt conveyor</a:t>
            </a:r>
          </a:p>
          <a:p>
            <a:pPr marL="800100" lvl="1" indent="-342900">
              <a:buFontTx/>
              <a:buAutoNum type="arabicPeriod"/>
            </a:pPr>
            <a:r>
              <a:rPr lang="en-US" sz="2600">
                <a:latin typeface="Arial" charset="0"/>
              </a:rPr>
              <a:t>Roller conveyor</a:t>
            </a:r>
          </a:p>
          <a:p>
            <a:pPr marL="800100" lvl="1" indent="-342900">
              <a:buFontTx/>
              <a:buAutoNum type="arabicPeriod"/>
            </a:pPr>
            <a:r>
              <a:rPr lang="en-US" sz="2600">
                <a:latin typeface="Arial" charset="0"/>
              </a:rPr>
              <a:t>Chute conveyor</a:t>
            </a:r>
          </a:p>
          <a:p>
            <a:pPr marL="800100" lvl="1" indent="-342900">
              <a:buFontTx/>
              <a:buAutoNum type="arabicPeriod"/>
            </a:pPr>
            <a:r>
              <a:rPr lang="en-US" sz="2600">
                <a:latin typeface="Arial" charset="0"/>
              </a:rPr>
              <a:t>Slat conveyor</a:t>
            </a:r>
          </a:p>
          <a:p>
            <a:pPr marL="800100" lvl="1" indent="-342900">
              <a:buFontTx/>
              <a:buAutoNum type="arabicPeriod"/>
            </a:pPr>
            <a:r>
              <a:rPr lang="en-US" sz="2600">
                <a:latin typeface="Arial" charset="0"/>
              </a:rPr>
              <a:t>Screw conveyor</a:t>
            </a:r>
          </a:p>
          <a:p>
            <a:pPr marL="800100" lvl="1" indent="-342900">
              <a:buFontTx/>
              <a:buAutoNum type="arabicPeriod"/>
            </a:pPr>
            <a:r>
              <a:rPr lang="en-US" sz="2600">
                <a:latin typeface="Arial" charset="0"/>
              </a:rPr>
              <a:t>Chain conveyor</a:t>
            </a:r>
          </a:p>
          <a:p>
            <a:pPr marL="800100" lvl="1" indent="-342900">
              <a:buFontTx/>
              <a:buAutoNum type="arabicPeriod"/>
            </a:pPr>
            <a:r>
              <a:rPr lang="en-US" sz="2600">
                <a:latin typeface="Arial" charset="0"/>
              </a:rPr>
              <a:t>Overhead monorail conveyor</a:t>
            </a:r>
          </a:p>
          <a:p>
            <a:pPr marL="800100" lvl="1" indent="-342900">
              <a:buFontTx/>
              <a:buAutoNum type="arabicPeriod"/>
            </a:pPr>
            <a:r>
              <a:rPr lang="en-US" sz="2600">
                <a:latin typeface="Arial" charset="0"/>
              </a:rPr>
              <a:t>Trolley conveyor</a:t>
            </a:r>
          </a:p>
          <a:p>
            <a:pPr marL="800100" lvl="1" indent="-342900">
              <a:buFontTx/>
              <a:buAutoNum type="arabicPeriod"/>
            </a:pPr>
            <a:r>
              <a:rPr lang="en-US" sz="2600">
                <a:latin typeface="Arial" charset="0"/>
              </a:rPr>
              <a:t>Wheel conveyor</a:t>
            </a:r>
          </a:p>
          <a:p>
            <a:pPr marL="800100" lvl="1" indent="-342900">
              <a:buFontTx/>
              <a:buAutoNum type="arabicPeriod"/>
            </a:pPr>
            <a:r>
              <a:rPr lang="en-US" sz="2600">
                <a:latin typeface="Arial" charset="0"/>
              </a:rPr>
              <a:t>Tow conveyor</a:t>
            </a:r>
          </a:p>
          <a:p>
            <a:pPr marL="800100" lvl="1" indent="-342900">
              <a:buFontTx/>
              <a:buAutoNum type="arabicPeriod"/>
            </a:pPr>
            <a:r>
              <a:rPr lang="en-US" sz="2600">
                <a:latin typeface="Arial" charset="0"/>
              </a:rPr>
              <a:t>Bucket conveyor</a:t>
            </a:r>
          </a:p>
          <a:p>
            <a:pPr marL="800100" lvl="1" indent="-342900">
              <a:buFontTx/>
              <a:buAutoNum type="arabicPeriod"/>
            </a:pPr>
            <a:r>
              <a:rPr lang="en-US" sz="2600">
                <a:latin typeface="Arial" charset="0"/>
              </a:rPr>
              <a:t>Cart-on-track conveyor</a:t>
            </a:r>
          </a:p>
          <a:p>
            <a:pPr marL="800100" lvl="1" indent="-342900">
              <a:buFontTx/>
              <a:buAutoNum type="arabicPeriod"/>
            </a:pPr>
            <a:r>
              <a:rPr lang="en-US" sz="2600">
                <a:latin typeface="Arial" charset="0"/>
              </a:rPr>
              <a:t>Pneumatic tube conveyor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</a:rPr>
              <a:t>Material Handling Equipment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913" y="762000"/>
            <a:ext cx="8229600" cy="61864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  <a:defRPr/>
            </a:pPr>
            <a:r>
              <a:rPr lang="en-US" sz="2200" b="1" dirty="0">
                <a:latin typeface="+mn-lt"/>
                <a:cs typeface="+mn-cs"/>
              </a:rPr>
              <a:t>Over limited areas</a:t>
            </a: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latin typeface="+mn-lt"/>
                <a:cs typeface="+mn-cs"/>
              </a:rPr>
              <a:t>Hoists</a:t>
            </a: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latin typeface="+mn-lt"/>
                <a:cs typeface="+mn-cs"/>
              </a:rPr>
              <a:t>Overhead cranes</a:t>
            </a: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latin typeface="+mn-lt"/>
                <a:cs typeface="+mn-cs"/>
              </a:rPr>
              <a:t>Hydraulic scissors lift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  <a:defRPr/>
            </a:pPr>
            <a:r>
              <a:rPr lang="en-US" sz="2200" b="1" dirty="0">
                <a:latin typeface="+mn-lt"/>
                <a:cs typeface="+mn-cs"/>
              </a:rPr>
              <a:t>Over large areas</a:t>
            </a:r>
          </a:p>
          <a:p>
            <a:pPr marL="798513" indent="-333375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latin typeface="+mn-lt"/>
                <a:cs typeface="+mn-cs"/>
              </a:rPr>
              <a:t>	Handcart/truck</a:t>
            </a:r>
          </a:p>
          <a:p>
            <a:pPr marL="798513" indent="-333375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latin typeface="+mn-lt"/>
                <a:cs typeface="+mn-cs"/>
              </a:rPr>
              <a:t>Tier platform truck</a:t>
            </a:r>
          </a:p>
          <a:p>
            <a:pPr marL="798513" indent="-333375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latin typeface="+mn-lt"/>
                <a:cs typeface="+mn-cs"/>
              </a:rPr>
              <a:t>Hand lift truck / pallet jack</a:t>
            </a:r>
          </a:p>
          <a:p>
            <a:pPr marL="798513" indent="-333375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latin typeface="+mn-lt"/>
                <a:cs typeface="+mn-cs"/>
              </a:rPr>
              <a:t>Power-driven hand truck</a:t>
            </a:r>
          </a:p>
          <a:p>
            <a:pPr marL="798513" indent="-333375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latin typeface="+mn-lt"/>
                <a:cs typeface="+mn-cs"/>
              </a:rPr>
              <a:t>Power-driven platform truck</a:t>
            </a:r>
          </a:p>
          <a:p>
            <a:pPr marL="798513" indent="-333375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latin typeface="+mn-lt"/>
                <a:cs typeface="+mn-cs"/>
              </a:rPr>
              <a:t>Forklift truck</a:t>
            </a:r>
          </a:p>
          <a:p>
            <a:pPr marL="798513" indent="-333375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latin typeface="+mn-lt"/>
                <a:cs typeface="+mn-cs"/>
              </a:rPr>
              <a:t>Narrow aisle truck</a:t>
            </a:r>
          </a:p>
          <a:p>
            <a:pPr marL="798513" indent="-333375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latin typeface="+mn-lt"/>
                <a:cs typeface="+mn-cs"/>
              </a:rPr>
              <a:t>Tractor-trailer truck</a:t>
            </a:r>
          </a:p>
          <a:p>
            <a:pPr marL="798513" indent="-333375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latin typeface="+mn-lt"/>
                <a:cs typeface="+mn-cs"/>
              </a:rPr>
              <a:t>Material lift</a:t>
            </a:r>
          </a:p>
          <a:p>
            <a:pPr marL="798513" indent="-333375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latin typeface="+mn-lt"/>
                <a:cs typeface="+mn-cs"/>
              </a:rPr>
              <a:t>Drum truck</a:t>
            </a:r>
          </a:p>
          <a:p>
            <a:pPr marL="798513" indent="-333375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latin typeface="+mn-lt"/>
                <a:cs typeface="+mn-cs"/>
              </a:rPr>
              <a:t>Drum lifter</a:t>
            </a:r>
          </a:p>
          <a:p>
            <a:pPr marL="798513" indent="-333375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latin typeface="+mn-lt"/>
                <a:cs typeface="+mn-cs"/>
              </a:rPr>
              <a:t>Dolly</a:t>
            </a:r>
          </a:p>
          <a:p>
            <a:pPr marL="798513" indent="-333375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latin typeface="+mn-lt"/>
                <a:cs typeface="+mn-cs"/>
              </a:rPr>
              <a:t>Automated guided vehicle system 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 rtlCol="0">
            <a:normAutofit/>
          </a:bodyPr>
          <a:lstStyle/>
          <a:p>
            <a:pPr lvl="1" fontAlgn="auto">
              <a:spcAft>
                <a:spcPts val="0"/>
              </a:spcAft>
              <a:defRPr/>
            </a:pPr>
            <a:r>
              <a:rPr lang="en-US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Belt conveyor</a:t>
            </a:r>
          </a:p>
        </p:txBody>
      </p:sp>
      <p:pic>
        <p:nvPicPr>
          <p:cNvPr id="2052" name="Picture 4" descr="C:\Users\Insan\Desktop\Conveyor\belt conv 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00600" y="1066800"/>
            <a:ext cx="3911600" cy="279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4" name="Picture 6" descr="C:\Users\Insan\Desktop\Conveyor\belt conv 4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938" y="838200"/>
            <a:ext cx="37338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C:\Users\Insan\Desktop\Conveyor\belt conv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14400" y="3860800"/>
            <a:ext cx="3975100" cy="297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 rtlCol="0">
            <a:normAutofit/>
          </a:bodyPr>
          <a:lstStyle/>
          <a:p>
            <a:pPr lvl="1" fontAlgn="auto">
              <a:spcAft>
                <a:spcPts val="0"/>
              </a:spcAft>
              <a:defRPr/>
            </a:pPr>
            <a:r>
              <a:rPr lang="en-US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Belt conveyor</a:t>
            </a:r>
          </a:p>
        </p:txBody>
      </p:sp>
      <p:pic>
        <p:nvPicPr>
          <p:cNvPr id="13315" name="Picture 3" descr="C:\Users\Insan\Desktop\Conveyor\belt conv 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990600"/>
            <a:ext cx="44196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6" name="Picture 5" descr="C:\Users\Insan\Desktop\Conveyor\belt conv 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73650" y="3352800"/>
            <a:ext cx="357505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marL="342900" indent="-342900"/>
            <a:r>
              <a:rPr lang="en-US" b="1">
                <a:solidFill>
                  <a:schemeClr val="bg1"/>
                </a:solidFill>
              </a:rPr>
              <a:t>Roller conveyor</a:t>
            </a:r>
          </a:p>
        </p:txBody>
      </p:sp>
      <p:pic>
        <p:nvPicPr>
          <p:cNvPr id="14339" name="Picture 2" descr="C:\Users\Insan\Desktop\Conveyor\Roller conv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225" y="895350"/>
            <a:ext cx="481965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 descr="C:\Users\Insan\Desktop\Conveyor\Roller conv 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37113" y="3211513"/>
            <a:ext cx="4298950" cy="321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marL="342900" indent="-342900"/>
            <a:r>
              <a:rPr lang="en-US" b="1">
                <a:solidFill>
                  <a:schemeClr val="bg1"/>
                </a:solidFill>
              </a:rPr>
              <a:t>Chute conveyor</a:t>
            </a:r>
          </a:p>
        </p:txBody>
      </p:sp>
      <p:pic>
        <p:nvPicPr>
          <p:cNvPr id="15363" name="Picture 2" descr="C:\Users\Insan\Desktop\Conveyor\chute conv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4600" y="838200"/>
            <a:ext cx="32766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 descr="C:\Users\Insan\Desktop\Conveyor\chute conv 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0" y="2303463"/>
            <a:ext cx="2801938" cy="410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 descr="C:\Users\Insan\Desktop\Conveyor\chute conv 4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0338" y="3138488"/>
            <a:ext cx="2662237" cy="345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4" name="Picture 2" descr="C:\Users\Insan\Desktop\Conveyor\chute conv 1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124200" y="3700463"/>
            <a:ext cx="2514600" cy="299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marL="342900" indent="-342900"/>
            <a:r>
              <a:rPr lang="en-US" b="1">
                <a:solidFill>
                  <a:schemeClr val="bg1"/>
                </a:solidFill>
              </a:rPr>
              <a:t>Chute conveyor</a:t>
            </a:r>
          </a:p>
        </p:txBody>
      </p:sp>
      <p:pic>
        <p:nvPicPr>
          <p:cNvPr id="4100" name="Picture 4" descr="C:\Users\Insan\Desktop\Conveyor\chute conv 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7563" y="3505200"/>
            <a:ext cx="4525962" cy="305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8" name="Picture 6" descr="C:\Users\Insan\Desktop\Conveyor\chute conv 5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914400"/>
            <a:ext cx="6772275" cy="2389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marL="342900" indent="-342900"/>
            <a:r>
              <a:rPr lang="en-US" b="1">
                <a:solidFill>
                  <a:schemeClr val="bg1"/>
                </a:solidFill>
              </a:rPr>
              <a:t>Slat conveyor</a:t>
            </a:r>
          </a:p>
        </p:txBody>
      </p:sp>
      <p:pic>
        <p:nvPicPr>
          <p:cNvPr id="5122" name="Picture 2" descr="C:\Users\Insan\Desktop\Conveyor\Slat Conv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89538" y="942975"/>
            <a:ext cx="3725862" cy="279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 descr="C:\Users\Insan\Desktop\Conveyor\Slat Conv 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86025" y="4040188"/>
            <a:ext cx="3762375" cy="281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3" name="Picture 4" descr="C:\Users\Insan\Desktop\Conveyor\Slat Conv 2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928688"/>
            <a:ext cx="3033713" cy="303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marL="342900" indent="-342900"/>
            <a:r>
              <a:rPr lang="en-US" b="1">
                <a:solidFill>
                  <a:schemeClr val="bg1"/>
                </a:solidFill>
              </a:rPr>
              <a:t>Screw conveyor</a:t>
            </a:r>
          </a:p>
        </p:txBody>
      </p:sp>
      <p:pic>
        <p:nvPicPr>
          <p:cNvPr id="6147" name="Picture 3" descr="C:\Users\Insan\Desktop\Conveyor\screw conv 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43488" y="3505200"/>
            <a:ext cx="35052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 descr="C:\Users\Insan\Desktop\Conveyor\screw conv 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29200" y="904875"/>
            <a:ext cx="3319463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7" name="Picture 6" descr="C:\Users\Insan\Desktop\Conveyor\screw conv 4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1143000"/>
            <a:ext cx="4170363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marL="342900" indent="-342900"/>
            <a:r>
              <a:rPr lang="en-US" b="1">
                <a:solidFill>
                  <a:schemeClr val="bg1"/>
                </a:solidFill>
              </a:rPr>
              <a:t>Screw conveyor</a:t>
            </a:r>
          </a:p>
        </p:txBody>
      </p:sp>
      <p:pic>
        <p:nvPicPr>
          <p:cNvPr id="19459" name="Picture 2" descr="C:\Users\Insan\Desktop\Conveyor\screw conv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95800" y="914400"/>
            <a:ext cx="4495800" cy="353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9" name="Picture 5" descr="C:\Users\Insan\Desktop\Conveyor\screw conv 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3886200"/>
            <a:ext cx="3787775" cy="283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marL="342900" indent="-342900"/>
            <a:r>
              <a:rPr lang="en-US" b="1">
                <a:solidFill>
                  <a:schemeClr val="bg1"/>
                </a:solidFill>
              </a:rPr>
              <a:t>Chain conveyor</a:t>
            </a:r>
          </a:p>
        </p:txBody>
      </p:sp>
      <p:pic>
        <p:nvPicPr>
          <p:cNvPr id="20483" name="Picture 2" descr="C:\Users\Insan\Desktop\Conveyor\chain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19600" y="914400"/>
            <a:ext cx="44958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4" name="Picture 4" descr="C:\Users\Insan\Desktop\Conveyor\chain 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3276600"/>
            <a:ext cx="3725863" cy="328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marL="342900" indent="-342900"/>
            <a:r>
              <a:rPr lang="en-US" b="1">
                <a:solidFill>
                  <a:schemeClr val="bg1"/>
                </a:solidFill>
              </a:rPr>
              <a:t>Chain conveyor</a:t>
            </a:r>
          </a:p>
        </p:txBody>
      </p:sp>
      <p:pic>
        <p:nvPicPr>
          <p:cNvPr id="7171" name="Picture 3" descr="C:\Users\Insan\Desktop\Conveyor\chain  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6175" y="1905000"/>
            <a:ext cx="3657600" cy="444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8" name="Picture 5" descr="C:\Users\Insan\Desktop\Conveyor\chain 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295400"/>
            <a:ext cx="34290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marL="342900" indent="-342900"/>
            <a:r>
              <a:rPr lang="en-US" b="1">
                <a:solidFill>
                  <a:schemeClr val="bg1"/>
                </a:solidFill>
              </a:rPr>
              <a:t>Overhead monorail conveyor</a:t>
            </a:r>
          </a:p>
        </p:txBody>
      </p:sp>
      <p:pic>
        <p:nvPicPr>
          <p:cNvPr id="22531" name="Picture 4" descr="C:\Users\Insan\Desktop\Conveyor\overhead monorail 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066800"/>
            <a:ext cx="4800600" cy="3824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 descr="C:\Users\Insan\Desktop\Conveyor\overhead monorail 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43400" y="2835275"/>
            <a:ext cx="4619625" cy="379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marL="342900" indent="-342900"/>
            <a:r>
              <a:rPr lang="en-US" b="1">
                <a:solidFill>
                  <a:schemeClr val="bg1"/>
                </a:solidFill>
              </a:rPr>
              <a:t>Overhead monorail conveyor</a:t>
            </a:r>
          </a:p>
        </p:txBody>
      </p:sp>
      <p:pic>
        <p:nvPicPr>
          <p:cNvPr id="23555" name="Picture 2" descr="C:\Users\Insan\Desktop\Conveyor\overhead monorail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501775"/>
            <a:ext cx="5943600" cy="533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marL="342900" indent="-342900"/>
            <a:r>
              <a:rPr lang="en-US" b="1">
                <a:solidFill>
                  <a:schemeClr val="bg1"/>
                </a:solidFill>
              </a:rPr>
              <a:t>Trolley conveyor</a:t>
            </a:r>
          </a:p>
        </p:txBody>
      </p:sp>
      <p:pic>
        <p:nvPicPr>
          <p:cNvPr id="24579" name="Picture 2" descr="C:\Users\Insan\Desktop\Conveyor\trolley conv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0" y="930275"/>
            <a:ext cx="5257800" cy="364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4" name="Picture 4" descr="C:\Users\Insan\Desktop\Conveyor\trolley conv 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2888" y="2971800"/>
            <a:ext cx="4938712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marL="342900" indent="-342900"/>
            <a:r>
              <a:rPr lang="en-US" b="1">
                <a:solidFill>
                  <a:schemeClr val="bg1"/>
                </a:solidFill>
              </a:rPr>
              <a:t>Wheel conveyor</a:t>
            </a:r>
          </a:p>
        </p:txBody>
      </p:sp>
      <p:pic>
        <p:nvPicPr>
          <p:cNvPr id="11266" name="Picture 2" descr="C:\Users\Insan\Desktop\Conveyor\wheel conv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91000" y="1066800"/>
            <a:ext cx="4648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8" name="Picture 4" descr="C:\Users\Insan\Desktop\Conveyor\wheel conv 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9700" y="3962400"/>
            <a:ext cx="3795713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5" name="Picture 5" descr="C:\Users\Insan\Desktop\Conveyor\wheel conv 3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5413" y="990600"/>
            <a:ext cx="3763962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marL="342900" indent="-342900"/>
            <a:r>
              <a:rPr lang="en-US" b="1">
                <a:solidFill>
                  <a:schemeClr val="bg1"/>
                </a:solidFill>
              </a:rPr>
              <a:t>Wheel conveyor</a:t>
            </a:r>
          </a:p>
        </p:txBody>
      </p:sp>
      <p:pic>
        <p:nvPicPr>
          <p:cNvPr id="26627" name="Picture 3" descr="C:\Users\Insan\Desktop\Conveyor\wheel conv 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49888" y="1981200"/>
            <a:ext cx="2849562" cy="439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8" name="Picture 6" descr="C:\Users\Insan\Desktop\Conveyor\wheel conv 4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1524000"/>
            <a:ext cx="4572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marL="342900" indent="-342900"/>
            <a:r>
              <a:rPr lang="en-US" b="1">
                <a:solidFill>
                  <a:schemeClr val="bg1"/>
                </a:solidFill>
              </a:rPr>
              <a:t>Tow conveyor</a:t>
            </a:r>
          </a:p>
        </p:txBody>
      </p:sp>
      <p:pic>
        <p:nvPicPr>
          <p:cNvPr id="27651" name="Picture 4" descr="C:\Users\Insan\Desktop\Conveyor\tow conv 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066800"/>
            <a:ext cx="4471988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0" name="Picture 2" descr="C:\Users\Insan\Desktop\Conveyor\tow conv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57675" y="2971800"/>
            <a:ext cx="4852988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marL="342900" indent="-342900"/>
            <a:r>
              <a:rPr lang="en-US" b="1">
                <a:solidFill>
                  <a:schemeClr val="bg1"/>
                </a:solidFill>
              </a:rPr>
              <a:t>Tow conveyor</a:t>
            </a:r>
          </a:p>
        </p:txBody>
      </p:sp>
      <p:pic>
        <p:nvPicPr>
          <p:cNvPr id="28675" name="Picture 2" descr="C:\Users\Insan\Desktop\Conveyor\tow conv 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48188" y="2486025"/>
            <a:ext cx="4291012" cy="414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6" name="Picture 3" descr="C:\Users\Insan\Desktop\Conveyor\tow conv 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990600"/>
            <a:ext cx="41910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marL="342900" indent="-342900"/>
            <a:r>
              <a:rPr lang="en-US" b="1">
                <a:solidFill>
                  <a:schemeClr val="bg1"/>
                </a:solidFill>
              </a:rPr>
              <a:t>Bucket conveyor</a:t>
            </a:r>
          </a:p>
        </p:txBody>
      </p:sp>
      <p:pic>
        <p:nvPicPr>
          <p:cNvPr id="29699" name="Picture 2" descr="C:\Users\Insan\Desktop\Conveyor\bucket conv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168400"/>
            <a:ext cx="3048000" cy="5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0" name="Picture 4" descr="C:\Users\Insan\Desktop\Conveyor\bucket conv 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14800" y="1168400"/>
            <a:ext cx="4219575" cy="5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marL="342900" indent="-342900"/>
            <a:r>
              <a:rPr lang="en-US" b="1">
                <a:solidFill>
                  <a:schemeClr val="bg1"/>
                </a:solidFill>
              </a:rPr>
              <a:t>Bucket conveyor</a:t>
            </a:r>
          </a:p>
        </p:txBody>
      </p:sp>
      <p:pic>
        <p:nvPicPr>
          <p:cNvPr id="30723" name="Picture 3" descr="C:\Users\Insan\Desktop\Conveyor\bucket conv 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6863" y="990600"/>
            <a:ext cx="4275137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1" name="Picture 5" descr="C:\Users\Insan\Desktop\Conveyor\bucket conv 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76600" y="4114800"/>
            <a:ext cx="5559425" cy="264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marL="342900" indent="-342900"/>
            <a:r>
              <a:rPr lang="en-US" b="1">
                <a:solidFill>
                  <a:schemeClr val="bg1"/>
                </a:solidFill>
              </a:rPr>
              <a:t>Cart-on-track conveyor</a:t>
            </a:r>
          </a:p>
        </p:txBody>
      </p:sp>
      <p:pic>
        <p:nvPicPr>
          <p:cNvPr id="31747" name="Picture 2" descr="C:\Users\Insan\Desktop\Conveyor\trolley conv 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219200"/>
            <a:ext cx="73279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marL="342900" indent="-342900"/>
            <a:r>
              <a:rPr lang="en-US" b="1">
                <a:solidFill>
                  <a:schemeClr val="bg1"/>
                </a:solidFill>
              </a:rPr>
              <a:t>Pneumatic tube conveyor</a:t>
            </a:r>
          </a:p>
        </p:txBody>
      </p:sp>
      <p:pic>
        <p:nvPicPr>
          <p:cNvPr id="16386" name="Picture 2" descr="C:\Users\Insan\Desktop\Conveyor\pneumatic tube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4038600"/>
            <a:ext cx="3763963" cy="260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9" name="Picture 5" descr="C:\Users\Insan\Desktop\Conveyor\pneumatic tube 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51313" y="3429000"/>
            <a:ext cx="4827587" cy="321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3" name="Picture 6" descr="C:\Users\Insan\Desktop\Conveyor\pneumatic tube 4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" y="1066800"/>
            <a:ext cx="3763963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marL="342900" indent="-342900"/>
            <a:r>
              <a:rPr lang="en-US" b="1">
                <a:solidFill>
                  <a:schemeClr val="bg1"/>
                </a:solidFill>
              </a:rPr>
              <a:t>Pneumatic tube conveyor</a:t>
            </a:r>
          </a:p>
        </p:txBody>
      </p:sp>
      <p:pic>
        <p:nvPicPr>
          <p:cNvPr id="33795" name="Picture 2" descr="C:\Users\Insan\Desktop\Conveyor\pneumatic tube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14675" y="2643188"/>
            <a:ext cx="2914650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796" name="Picture 3" descr="C:\Users\Insan\Desktop\Conveyor\pneumatic tube 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91288" y="1771650"/>
            <a:ext cx="200025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797" name="Picture 4" descr="C:\Users\Insan\Desktop\Conveyor\pneumatic tube 2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05400" y="4959350"/>
            <a:ext cx="3419475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798" name="Picture 5" descr="C:\Users\Insan\Desktop\Conveyor\pneumatic tube 3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43000" y="4549775"/>
            <a:ext cx="2619375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799" name="Picture 6" descr="C:\Users\Insan\Desktop\Conveyor\pneumatic tube 4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28600" y="1066800"/>
            <a:ext cx="2466975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marL="342900" indent="-342900"/>
            <a:r>
              <a:rPr lang="en-US" b="1">
                <a:solidFill>
                  <a:schemeClr val="bg1"/>
                </a:solidFill>
              </a:rPr>
              <a:t>Hoists</a:t>
            </a:r>
          </a:p>
        </p:txBody>
      </p:sp>
      <p:pic>
        <p:nvPicPr>
          <p:cNvPr id="17410" name="Picture 2" descr="C:\Users\Insan\Desktop\Conveyor\hoist chain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38600" y="2209800"/>
            <a:ext cx="4724400" cy="438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20" name="Picture 3" descr="C:\Users\Insan\Desktop\Conveyor\hoist chain 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1203325"/>
            <a:ext cx="3505200" cy="496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marL="342900" indent="-342900"/>
            <a:r>
              <a:rPr lang="en-US" b="1">
                <a:solidFill>
                  <a:schemeClr val="bg1"/>
                </a:solidFill>
              </a:rPr>
              <a:t>Overhead cranes</a:t>
            </a:r>
          </a:p>
        </p:txBody>
      </p:sp>
      <p:pic>
        <p:nvPicPr>
          <p:cNvPr id="18434" name="Picture 2" descr="C:\Users\Insan\Desktop\Conveyor\overhead crane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2514600"/>
            <a:ext cx="5595938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4" name="Picture 3" descr="C:\Users\Insan\Desktop\Conveyor\overhead crane 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1066800"/>
            <a:ext cx="4725988" cy="188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marL="342900" indent="-342900"/>
            <a:r>
              <a:rPr lang="en-US" b="1">
                <a:solidFill>
                  <a:schemeClr val="bg1"/>
                </a:solidFill>
              </a:rPr>
              <a:t>Hydraulic scissors lift</a:t>
            </a:r>
          </a:p>
        </p:txBody>
      </p:sp>
      <p:pic>
        <p:nvPicPr>
          <p:cNvPr id="36867" name="Picture 2" descr="C:\Users\Insan\Desktop\Conveyor\hydraulic scissors if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57725" y="914400"/>
            <a:ext cx="43434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68" name="Picture 3" descr="C:\Users\Insan\Desktop\Conveyor\hydraulic scissors ift 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6863" y="2895600"/>
            <a:ext cx="4256087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 rtlCol="0">
            <a:normAutofit/>
          </a:bodyPr>
          <a:lstStyle/>
          <a:p>
            <a:pPr marL="465138" fontAlgn="auto"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</a:rPr>
              <a:t>Handcart/truck</a:t>
            </a:r>
          </a:p>
        </p:txBody>
      </p:sp>
      <p:pic>
        <p:nvPicPr>
          <p:cNvPr id="20482" name="Picture 2" descr="C:\Users\Insan\Desktop\Conveyor\handcart 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05263" y="1069975"/>
            <a:ext cx="3211512" cy="320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3" name="Picture 3" descr="C:\Users\Insan\Desktop\Conveyor\handcart 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77000" y="3657600"/>
            <a:ext cx="26670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3" name="Picture 4" descr="C:\Users\Insan\Desktop\Conveyor\handcart 4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" y="1066800"/>
            <a:ext cx="3675063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5" name="Picture 5" descr="C:\Users\Insan\Desktop\Conveyor\handcart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31775" y="3606800"/>
            <a:ext cx="3671888" cy="274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 rtlCol="0">
            <a:normAutofit/>
          </a:bodyPr>
          <a:lstStyle/>
          <a:p>
            <a:pPr marL="465138" fontAlgn="auto"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</a:rPr>
              <a:t>Tier platform truck</a:t>
            </a:r>
          </a:p>
        </p:txBody>
      </p:sp>
      <p:pic>
        <p:nvPicPr>
          <p:cNvPr id="38915" name="Picture 2" descr="C:\Users\Insan\Desktop\Conveyor\tier platform truck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1925" y="990600"/>
            <a:ext cx="2733675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7" name="Picture 3" descr="C:\Users\Insan\Desktop\Conveyor\tier platform truck 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228600" y="3884613"/>
            <a:ext cx="3581400" cy="268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8" name="Picture 4" descr="C:\Users\Insan\Desktop\Conveyor\tier platform truck 2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181350" y="855663"/>
            <a:ext cx="3028950" cy="302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9" name="Picture 5" descr="C:\Users\Insan\Desktop\Conveyor\tier platform truck 3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38875" y="1189038"/>
            <a:ext cx="2338388" cy="233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0" name="Picture 6" descr="C:\Users\Insan\Desktop\Conveyor\tier platform truck 4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181350" y="3538538"/>
            <a:ext cx="2533650" cy="3382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1" name="Picture 7" descr="C:\Users\Insan\Desktop\Conveyor\tier platform truck 5.jp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986463" y="4114800"/>
            <a:ext cx="25908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 rtlCol="0">
            <a:normAutofit/>
          </a:bodyPr>
          <a:lstStyle/>
          <a:p>
            <a:pPr marL="465138" fontAlgn="auto"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</a:rPr>
              <a:t>Hand lift truck / pallet jack</a:t>
            </a:r>
          </a:p>
        </p:txBody>
      </p:sp>
      <p:pic>
        <p:nvPicPr>
          <p:cNvPr id="39939" name="Picture 2" descr="C:\Users\Insan\Desktop\Conveyor\handlift truck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7513" y="874713"/>
            <a:ext cx="2935287" cy="293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1" name="Picture 3" descr="C:\Users\Insan\Desktop\Conveyor\handlift truck 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00600" y="3684588"/>
            <a:ext cx="3209925" cy="320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2" name="Picture 4" descr="C:\Users\Insan\Desktop\Conveyor\handlift truck 2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2313" y="4038600"/>
            <a:ext cx="26670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3" name="Picture 5" descr="C:\Users\Insan\Desktop\Conveyor\handlift truck 3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953000" y="1066800"/>
            <a:ext cx="25146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 rtlCol="0">
            <a:normAutofit/>
          </a:bodyPr>
          <a:lstStyle/>
          <a:p>
            <a:pPr marL="465138" fontAlgn="auto"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</a:rPr>
              <a:t>Power-driven hand truck</a:t>
            </a:r>
          </a:p>
        </p:txBody>
      </p:sp>
      <p:pic>
        <p:nvPicPr>
          <p:cNvPr id="5" name="Picture 3" descr="C:\Users\Insan\Desktop\Conveyor\handlift truck 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93850" y="1600200"/>
            <a:ext cx="3209925" cy="320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 rtlCol="0">
            <a:normAutofit/>
          </a:bodyPr>
          <a:lstStyle/>
          <a:p>
            <a:pPr marL="465138" fontAlgn="auto"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</a:rPr>
              <a:t>Power-driven platform truck</a:t>
            </a:r>
          </a:p>
        </p:txBody>
      </p:sp>
      <p:pic>
        <p:nvPicPr>
          <p:cNvPr id="41987" name="Picture 2" descr="C:\Users\Insan\Desktop\Conveyor\power driven platform truck 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1330325"/>
            <a:ext cx="4689475" cy="468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 rtlCol="0">
            <a:normAutofit/>
          </a:bodyPr>
          <a:lstStyle/>
          <a:p>
            <a:pPr marL="465138" fontAlgn="auto"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</a:rPr>
              <a:t>Forklift truck</a:t>
            </a:r>
          </a:p>
        </p:txBody>
      </p:sp>
      <p:pic>
        <p:nvPicPr>
          <p:cNvPr id="43011" name="Picture 2" descr="C:\Users\Insan\Desktop\Conveyor\forklif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417638"/>
            <a:ext cx="5181600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 rtlCol="0">
            <a:normAutofit/>
          </a:bodyPr>
          <a:lstStyle/>
          <a:p>
            <a:pPr marL="465138" fontAlgn="auto"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</a:rPr>
              <a:t>Narrow aisle truck</a:t>
            </a:r>
          </a:p>
        </p:txBody>
      </p:sp>
      <p:pic>
        <p:nvPicPr>
          <p:cNvPr id="26626" name="Picture 2" descr="C:\Users\Insan\Desktop\Conveyor\narrow aisle truck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990600"/>
            <a:ext cx="3979863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36" name="Picture 3" descr="C:\Users\Insan\Desktop\Conveyor\narrow aisle truck 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37075" y="2133600"/>
            <a:ext cx="4252913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 rtlCol="0">
            <a:normAutofit/>
          </a:bodyPr>
          <a:lstStyle/>
          <a:p>
            <a:pPr marL="465138" fontAlgn="auto"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</a:rPr>
              <a:t>Tractor-trailer truck</a:t>
            </a:r>
          </a:p>
        </p:txBody>
      </p:sp>
      <p:pic>
        <p:nvPicPr>
          <p:cNvPr id="45059" name="Picture 2" descr="C:\Users\Insan\Desktop\Conveyor\tractor trailer train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295400"/>
            <a:ext cx="6985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 rtlCol="0">
            <a:normAutofit/>
          </a:bodyPr>
          <a:lstStyle/>
          <a:p>
            <a:pPr marL="465138" fontAlgn="auto"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</a:rPr>
              <a:t>Material lift</a:t>
            </a:r>
          </a:p>
        </p:txBody>
      </p:sp>
      <p:pic>
        <p:nvPicPr>
          <p:cNvPr id="46083" name="Picture 2" descr="C:\Users\Insan\Desktop\Conveyor\material lif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0" y="1065213"/>
            <a:ext cx="2505075" cy="315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084" name="Picture 3" descr="C:\Users\Insan\Desktop\Conveyor\material lift  4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1023938"/>
            <a:ext cx="2514600" cy="319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085" name="Picture 4" descr="C:\Users\Insan\Desktop\Conveyor\material lift 1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48363" y="1065213"/>
            <a:ext cx="2282825" cy="315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086" name="Picture 5" descr="C:\Users\Insan\Desktop\Conveyor\material lift 2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43000" y="4252913"/>
            <a:ext cx="2667000" cy="2605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087" name="Picture 6" descr="C:\Users\Insan\Desktop\Conveyor\material lift 3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384800" y="4267200"/>
            <a:ext cx="24638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 rtlCol="0">
            <a:normAutofit/>
          </a:bodyPr>
          <a:lstStyle/>
          <a:p>
            <a:pPr marL="465138" fontAlgn="auto"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</a:rPr>
              <a:t>Drum truck</a:t>
            </a:r>
          </a:p>
        </p:txBody>
      </p:sp>
      <p:pic>
        <p:nvPicPr>
          <p:cNvPr id="8194" name="Picture 2" descr="Image result for Drum truck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990600"/>
            <a:ext cx="7426904" cy="5180266"/>
          </a:xfrm>
          <a:prstGeom prst="rect">
            <a:avLst/>
          </a:prstGeom>
          <a:noFill/>
        </p:spPr>
      </p:pic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 rtlCol="0">
            <a:normAutofit/>
          </a:bodyPr>
          <a:lstStyle/>
          <a:p>
            <a:pPr marL="465138" fontAlgn="auto"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</a:rPr>
              <a:t>Drum lifter</a:t>
            </a:r>
          </a:p>
        </p:txBody>
      </p:sp>
      <p:pic>
        <p:nvPicPr>
          <p:cNvPr id="29698" name="Picture 2" descr="C:\Users\Insan\Desktop\Conveyor\drum lifter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0" y="1219200"/>
            <a:ext cx="3068638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1" name="Picture 5" descr="C:\Users\Insan\Desktop\Conveyor\drum lifter 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3200" y="4038600"/>
            <a:ext cx="3763963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33" name="Picture 6" descr="C:\Users\Insan\Desktop\Conveyor\drum lifter 2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" y="1066800"/>
            <a:ext cx="3382963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 rtlCol="0">
            <a:normAutofit/>
          </a:bodyPr>
          <a:lstStyle/>
          <a:p>
            <a:pPr marL="465138" fontAlgn="auto"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</a:rPr>
              <a:t>Drum lifter</a:t>
            </a:r>
          </a:p>
        </p:txBody>
      </p:sp>
      <p:pic>
        <p:nvPicPr>
          <p:cNvPr id="29699" name="Picture 3" descr="C:\Users\Insan\Desktop\Conveyor\drum lifter  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44850" y="1143000"/>
            <a:ext cx="3155950" cy="380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6" name="Picture 4" descr="C:\Users\Insan\Desktop\Conveyor\drum lifter  4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990600"/>
            <a:ext cx="3101975" cy="395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3" name="Picture 7" descr="C:\Users\Insan\Desktop\Conveyor\drum lifter 5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604000" y="4267200"/>
            <a:ext cx="2466975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7938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 rtlCol="0">
            <a:normAutofit/>
          </a:bodyPr>
          <a:lstStyle/>
          <a:p>
            <a:pPr marL="465138" fontAlgn="auto"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</a:rPr>
              <a:t>Dolly</a:t>
            </a:r>
          </a:p>
        </p:txBody>
      </p:sp>
      <p:pic>
        <p:nvPicPr>
          <p:cNvPr id="50179" name="Picture 2" descr="C:\Users\Insan\Desktop\Conveyor\dolly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1828800"/>
            <a:ext cx="5267325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 rtlCol="0">
            <a:normAutofit/>
          </a:bodyPr>
          <a:lstStyle/>
          <a:p>
            <a:pPr marL="465138" fontAlgn="auto"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</a:rPr>
              <a:t>Pallet</a:t>
            </a:r>
          </a:p>
        </p:txBody>
      </p:sp>
      <p:pic>
        <p:nvPicPr>
          <p:cNvPr id="51203" name="Picture 2" descr="C:\Users\Insan\Desktop\Conveyor\palle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4724400"/>
            <a:ext cx="2895600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4" name="Picture 3" descr="C:\Users\Insan\Desktop\Conveyor\pallet 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8638" y="1249363"/>
            <a:ext cx="2976562" cy="297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5" name="Picture 4" descr="C:\Users\Insan\Desktop\Conveyor\pallet 2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48200" y="2730500"/>
            <a:ext cx="4076700" cy="199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  <a:solidFill>
            <a:schemeClr val="accent1">
              <a:lumMod val="75000"/>
            </a:schemeClr>
          </a:solidFill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</a:rPr>
              <a:t>Tote Pan</a:t>
            </a:r>
          </a:p>
        </p:txBody>
      </p:sp>
      <p:pic>
        <p:nvPicPr>
          <p:cNvPr id="53251" name="Picture 2" descr="C:\Users\Insan\Desktop\Conveyor\totepan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8275" y="990600"/>
            <a:ext cx="3697288" cy="245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1" name="Picture 3" descr="C:\Users\Insan\Desktop\Conveyor\totepan 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3587750"/>
            <a:ext cx="4038600" cy="310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2" name="Picture 4" descr="C:\Users\Insan\Desktop\Conveyor\totepan 2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99125" y="4137025"/>
            <a:ext cx="2009775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3" name="Picture 5" descr="C:\Users\Insan\Desktop\Conveyor\totepan 3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894388" y="990600"/>
            <a:ext cx="161925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1332</TotalTime>
  <Words>183</Words>
  <Application>Microsoft Office PowerPoint</Application>
  <PresentationFormat>On-screen Show (4:3)</PresentationFormat>
  <Paragraphs>76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Wingdings</vt:lpstr>
      <vt:lpstr>Office Theme</vt:lpstr>
      <vt:lpstr>Material Handling Systems</vt:lpstr>
      <vt:lpstr>Material Handling Equipment</vt:lpstr>
      <vt:lpstr>Material Handling Equipment</vt:lpstr>
      <vt:lpstr>Belt conveyor</vt:lpstr>
      <vt:lpstr>Belt conveyor</vt:lpstr>
      <vt:lpstr>Roller conveyor</vt:lpstr>
      <vt:lpstr>Chute conveyor</vt:lpstr>
      <vt:lpstr>Chute conveyor</vt:lpstr>
      <vt:lpstr>Slat conveyor</vt:lpstr>
      <vt:lpstr>Screw conveyor</vt:lpstr>
      <vt:lpstr>Screw conveyor</vt:lpstr>
      <vt:lpstr>Chain conveyor</vt:lpstr>
      <vt:lpstr>Chain conveyor</vt:lpstr>
      <vt:lpstr>Overhead monorail conveyor</vt:lpstr>
      <vt:lpstr>Overhead monorail conveyor</vt:lpstr>
      <vt:lpstr>Trolley conveyor</vt:lpstr>
      <vt:lpstr>Wheel conveyor</vt:lpstr>
      <vt:lpstr>Wheel conveyor</vt:lpstr>
      <vt:lpstr>Tow conveyor</vt:lpstr>
      <vt:lpstr>Tow conveyor</vt:lpstr>
      <vt:lpstr>Bucket conveyor</vt:lpstr>
      <vt:lpstr>Bucket conveyor</vt:lpstr>
      <vt:lpstr>Cart-on-track conveyor</vt:lpstr>
      <vt:lpstr>Pneumatic tube conveyor</vt:lpstr>
      <vt:lpstr>Pneumatic tube conveyor</vt:lpstr>
      <vt:lpstr>Hoists</vt:lpstr>
      <vt:lpstr>Overhead cranes</vt:lpstr>
      <vt:lpstr>Hydraulic scissors lift</vt:lpstr>
      <vt:lpstr>Handcart/truck</vt:lpstr>
      <vt:lpstr>Tier platform truck</vt:lpstr>
      <vt:lpstr>Hand lift truck / pallet jack</vt:lpstr>
      <vt:lpstr>Power-driven hand truck</vt:lpstr>
      <vt:lpstr>Power-driven platform truck</vt:lpstr>
      <vt:lpstr>Forklift truck</vt:lpstr>
      <vt:lpstr>Narrow aisle truck</vt:lpstr>
      <vt:lpstr>Tractor-trailer truck</vt:lpstr>
      <vt:lpstr>Material lift</vt:lpstr>
      <vt:lpstr>Drum truck</vt:lpstr>
      <vt:lpstr>Drum lifter</vt:lpstr>
      <vt:lpstr>Drum lifter</vt:lpstr>
      <vt:lpstr>Dolly</vt:lpstr>
      <vt:lpstr>Pallet</vt:lpstr>
      <vt:lpstr>Tote Pan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Material Handling Systems</dc:title>
  <dc:creator>8995</dc:creator>
  <cp:lastModifiedBy>Lenovo</cp:lastModifiedBy>
  <cp:revision>27</cp:revision>
  <dcterms:created xsi:type="dcterms:W3CDTF">2017-10-26T07:00:10Z</dcterms:created>
  <dcterms:modified xsi:type="dcterms:W3CDTF">2026-01-13T17:30:39Z</dcterms:modified>
</cp:coreProperties>
</file>