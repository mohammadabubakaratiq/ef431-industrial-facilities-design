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2" r:id="rId3"/>
    <p:sldId id="283" r:id="rId4"/>
    <p:sldId id="285" r:id="rId5"/>
    <p:sldId id="286" r:id="rId6"/>
    <p:sldId id="287" r:id="rId7"/>
    <p:sldId id="288"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3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23/12/2025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E44E4E-9228-48D9-9B28-96A1CC873AC9}" type="datetimeFigureOut">
              <a:rPr lang="en-GB" smtClean="0"/>
              <a:pPr/>
              <a:t>23/12/2025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2BD52F-EBD5-4C71-9D0C-993886C6C42A}"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1"/>
            <a:ext cx="7772400" cy="1143000"/>
          </a:xfrm>
        </p:spPr>
        <p:txBody>
          <a:bodyPr/>
          <a:lstStyle/>
          <a:p>
            <a:r>
              <a:rPr lang="en-US" dirty="0"/>
              <a:t>Personal Requirement</a:t>
            </a:r>
          </a:p>
        </p:txBody>
      </p:sp>
      <p:sp>
        <p:nvSpPr>
          <p:cNvPr id="3" name="Subtitle 2"/>
          <p:cNvSpPr>
            <a:spLocks noGrp="1"/>
          </p:cNvSpPr>
          <p:nvPr>
            <p:ph type="subTitle" idx="1"/>
          </p:nvPr>
        </p:nvSpPr>
        <p:spPr>
          <a:xfrm>
            <a:off x="914400" y="2971800"/>
            <a:ext cx="7543800" cy="2743200"/>
          </a:xfrm>
        </p:spPr>
        <p:txBody>
          <a:bodyPr/>
          <a:lstStyle/>
          <a:p>
            <a:r>
              <a:rPr lang="en-US" dirty="0"/>
              <a:t>CH # 4</a:t>
            </a:r>
          </a:p>
          <a:p>
            <a:r>
              <a:rPr lang="en-US" dirty="0"/>
              <a:t>(Facility System design, support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200" dirty="0"/>
              <a:t>4.1 Introduction</a:t>
            </a:r>
          </a:p>
        </p:txBody>
      </p:sp>
      <p:sp>
        <p:nvSpPr>
          <p:cNvPr id="3" name="Content Placeholder 2"/>
          <p:cNvSpPr>
            <a:spLocks noGrp="1"/>
          </p:cNvSpPr>
          <p:nvPr>
            <p:ph idx="1"/>
          </p:nvPr>
        </p:nvSpPr>
        <p:spPr>
          <a:xfrm>
            <a:off x="457200" y="1066800"/>
            <a:ext cx="8229600" cy="5562600"/>
          </a:xfrm>
        </p:spPr>
        <p:txBody>
          <a:bodyPr>
            <a:normAutofit/>
          </a:bodyPr>
          <a:lstStyle/>
          <a:p>
            <a:r>
              <a:rPr lang="en-US" sz="2800" dirty="0"/>
              <a:t>The planning of personnel requirements includes planning for:</a:t>
            </a:r>
          </a:p>
          <a:p>
            <a:pPr marL="514350" indent="-514350">
              <a:buFont typeface="+mj-lt"/>
              <a:buAutoNum type="arabicPeriod"/>
            </a:pPr>
            <a:r>
              <a:rPr lang="en-US" sz="2800" dirty="0"/>
              <a:t>Employee parking,</a:t>
            </a:r>
          </a:p>
          <a:p>
            <a:pPr marL="514350" indent="-514350">
              <a:buFont typeface="+mj-lt"/>
              <a:buAutoNum type="arabicPeriod"/>
            </a:pPr>
            <a:r>
              <a:rPr lang="en-US" sz="2800" dirty="0"/>
              <a:t>Locker rooms,</a:t>
            </a:r>
          </a:p>
          <a:p>
            <a:pPr marL="514350" indent="-514350">
              <a:buFont typeface="+mj-lt"/>
              <a:buAutoNum type="arabicPeriod"/>
            </a:pPr>
            <a:r>
              <a:rPr lang="en-US" sz="2800" dirty="0"/>
              <a:t>Restrooms,</a:t>
            </a:r>
          </a:p>
          <a:p>
            <a:pPr marL="514350" indent="-514350">
              <a:buFont typeface="+mj-lt"/>
              <a:buAutoNum type="arabicPeriod"/>
            </a:pPr>
            <a:r>
              <a:rPr lang="en-US" sz="2800" dirty="0"/>
              <a:t>Food services,</a:t>
            </a:r>
          </a:p>
          <a:p>
            <a:pPr marL="514350" indent="-514350">
              <a:buFont typeface="+mj-lt"/>
              <a:buAutoNum type="arabicPeriod"/>
            </a:pPr>
            <a:r>
              <a:rPr lang="en-US" sz="2800" dirty="0"/>
              <a:t>Drinking fountains, and</a:t>
            </a:r>
          </a:p>
          <a:p>
            <a:pPr marL="514350" indent="-514350">
              <a:buFont typeface="+mj-lt"/>
              <a:buAutoNum type="arabicPeriod"/>
            </a:pPr>
            <a:r>
              <a:rPr lang="en-US" sz="2800" dirty="0"/>
              <a:t>Health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457200"/>
            <a:ext cx="8534400" cy="2308324"/>
          </a:xfrm>
          <a:prstGeom prst="rect">
            <a:avLst/>
          </a:prstGeom>
        </p:spPr>
        <p:txBody>
          <a:bodyPr wrap="square">
            <a:spAutoFit/>
          </a:bodyPr>
          <a:lstStyle/>
          <a:p>
            <a:pPr algn="just"/>
            <a:r>
              <a:rPr lang="en-US" dirty="0"/>
              <a:t>Personnel requirement is most difficult to plan because of number of </a:t>
            </a:r>
            <a:r>
              <a:rPr lang="en-US" dirty="0" err="1"/>
              <a:t>philosopies</a:t>
            </a:r>
            <a:endParaRPr lang="en-US" dirty="0"/>
          </a:p>
          <a:p>
            <a:pPr algn="just"/>
            <a:r>
              <a:rPr lang="en-US" dirty="0"/>
              <a:t>Philosophies relating to personnel:</a:t>
            </a:r>
          </a:p>
          <a:p>
            <a:pPr algn="just"/>
            <a:r>
              <a:rPr lang="en-US" dirty="0"/>
              <a:t>• “Our firm is responsible for our employees from the moment they leave their home until they return. We must provide adequate methods of getting to and from work”.</a:t>
            </a:r>
          </a:p>
          <a:p>
            <a:pPr algn="just"/>
            <a:r>
              <a:rPr lang="en-US" dirty="0"/>
              <a:t>• “Employees spend one third of their life within our facility; we must help them enjoy working here”.</a:t>
            </a:r>
          </a:p>
          <a:p>
            <a:pPr algn="just">
              <a:buFont typeface="Arial" pitchFamily="34" charset="0"/>
              <a:buChar char="•"/>
            </a:pPr>
            <a:r>
              <a:rPr lang="en-US" dirty="0"/>
              <a:t> Happy worker is the productive worker.</a:t>
            </a:r>
          </a:p>
          <a:p>
            <a:pPr algn="just">
              <a:buFont typeface="Arial" pitchFamily="34" charset="0"/>
              <a:buChar char="•"/>
            </a:pPr>
            <a:r>
              <a:rPr lang="en-US" dirty="0"/>
              <a:t>A hot Lunch makes workers more productive since it supplies them energy.</a:t>
            </a:r>
          </a:p>
        </p:txBody>
      </p:sp>
      <p:sp>
        <p:nvSpPr>
          <p:cNvPr id="7" name="Rectangle 6"/>
          <p:cNvSpPr/>
          <p:nvPr/>
        </p:nvSpPr>
        <p:spPr>
          <a:xfrm>
            <a:off x="457200" y="2895600"/>
            <a:ext cx="4724755" cy="461665"/>
          </a:xfrm>
          <a:prstGeom prst="rect">
            <a:avLst/>
          </a:prstGeom>
        </p:spPr>
        <p:txBody>
          <a:bodyPr wrap="none">
            <a:spAutoFit/>
          </a:bodyPr>
          <a:lstStyle/>
          <a:p>
            <a:r>
              <a:rPr lang="en-US" sz="2400" b="1" dirty="0"/>
              <a:t>4.2. The Employee-Facility Interface</a:t>
            </a:r>
            <a:endParaRPr lang="en-US" sz="2400" dirty="0"/>
          </a:p>
        </p:txBody>
      </p:sp>
      <p:sp>
        <p:nvSpPr>
          <p:cNvPr id="8" name="Rectangle 7"/>
          <p:cNvSpPr/>
          <p:nvPr/>
        </p:nvSpPr>
        <p:spPr>
          <a:xfrm>
            <a:off x="457200" y="3505200"/>
            <a:ext cx="8153400" cy="369332"/>
          </a:xfrm>
          <a:prstGeom prst="rect">
            <a:avLst/>
          </a:prstGeom>
        </p:spPr>
        <p:txBody>
          <a:bodyPr wrap="square">
            <a:spAutoFit/>
          </a:bodyPr>
          <a:lstStyle/>
          <a:p>
            <a:r>
              <a:rPr lang="en-US" dirty="0"/>
              <a:t>An interface between an employee’s work and </a:t>
            </a:r>
            <a:r>
              <a:rPr lang="en-US" dirty="0" err="1"/>
              <a:t>nonwork</a:t>
            </a:r>
            <a:r>
              <a:rPr lang="en-US" dirty="0"/>
              <a:t> activities must be provided.</a:t>
            </a:r>
          </a:p>
        </p:txBody>
      </p:sp>
      <p:sp>
        <p:nvSpPr>
          <p:cNvPr id="9" name="Rectangle 8"/>
          <p:cNvSpPr/>
          <p:nvPr/>
        </p:nvSpPr>
        <p:spPr>
          <a:xfrm>
            <a:off x="457200" y="3962400"/>
            <a:ext cx="4800600" cy="461665"/>
          </a:xfrm>
          <a:prstGeom prst="rect">
            <a:avLst/>
          </a:prstGeom>
        </p:spPr>
        <p:txBody>
          <a:bodyPr wrap="square">
            <a:spAutoFit/>
          </a:bodyPr>
          <a:lstStyle/>
          <a:p>
            <a:r>
              <a:rPr lang="en-US" sz="2400" b="1" dirty="0"/>
              <a:t>4.2.1. Employee Parking</a:t>
            </a:r>
            <a:endParaRPr lang="en-US" sz="2400" dirty="0"/>
          </a:p>
        </p:txBody>
      </p:sp>
      <p:sp>
        <p:nvSpPr>
          <p:cNvPr id="10" name="Rectangle 9"/>
          <p:cNvSpPr/>
          <p:nvPr/>
        </p:nvSpPr>
        <p:spPr>
          <a:xfrm>
            <a:off x="533400" y="4495800"/>
            <a:ext cx="8001000" cy="1754326"/>
          </a:xfrm>
          <a:prstGeom prst="rect">
            <a:avLst/>
          </a:prstGeom>
        </p:spPr>
        <p:txBody>
          <a:bodyPr wrap="square">
            <a:spAutoFit/>
          </a:bodyPr>
          <a:lstStyle/>
          <a:p>
            <a:r>
              <a:rPr lang="en-US" dirty="0"/>
              <a:t>The procedure of planning employee parking:</a:t>
            </a:r>
          </a:p>
          <a:p>
            <a:r>
              <a:rPr lang="en-US" dirty="0"/>
              <a:t>1. Determine the number of automobiles to be parked.</a:t>
            </a:r>
          </a:p>
          <a:p>
            <a:r>
              <a:rPr lang="en-US" dirty="0"/>
              <a:t>2. Determine the space required for each automobile.</a:t>
            </a:r>
          </a:p>
          <a:p>
            <a:r>
              <a:rPr lang="en-US" dirty="0"/>
              <a:t>3. Determine the available space for parking.</a:t>
            </a:r>
          </a:p>
          <a:p>
            <a:r>
              <a:rPr lang="en-US" dirty="0"/>
              <a:t>4. Determine alternative parking layouts for alternative parking patterns.</a:t>
            </a:r>
          </a:p>
          <a:p>
            <a:r>
              <a:rPr lang="en-US" dirty="0"/>
              <a:t>5. Select the layout that best utilizes space and maximizes employee convenience.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457200"/>
            <a:ext cx="8534400" cy="4893647"/>
          </a:xfrm>
          <a:prstGeom prst="rect">
            <a:avLst/>
          </a:prstGeom>
        </p:spPr>
        <p:txBody>
          <a:bodyPr wrap="square">
            <a:spAutoFit/>
          </a:bodyPr>
          <a:lstStyle/>
          <a:p>
            <a:pPr algn="just"/>
            <a:r>
              <a:rPr lang="en-US" sz="2400" dirty="0"/>
              <a:t>The factors to be considered in determining the specification for a specific parking lot</a:t>
            </a:r>
          </a:p>
          <a:p>
            <a:pPr algn="just"/>
            <a:r>
              <a:rPr lang="en-US" sz="2400" dirty="0"/>
              <a:t>are:</a:t>
            </a:r>
          </a:p>
          <a:p>
            <a:pPr algn="just"/>
            <a:r>
              <a:rPr lang="en-US" sz="2400" dirty="0"/>
              <a:t>1. The percentage of automobiles to be parked that are compact automobiles. As a planning guideline, if more specific data are not available, 33% of all parking is often allocated to compact automobiles.</a:t>
            </a:r>
          </a:p>
          <a:p>
            <a:pPr algn="just"/>
            <a:r>
              <a:rPr lang="en-US" sz="2400" dirty="0"/>
              <a:t>2. Increasing the area provided for parking decreases the amount of time required to park and de-park.</a:t>
            </a:r>
          </a:p>
          <a:p>
            <a:pPr algn="just"/>
            <a:r>
              <a:rPr lang="en-US" sz="2400" dirty="0"/>
              <a:t>3. Angular configurations allow quicker turnover; perpendicular parking yields greater space utilization.</a:t>
            </a:r>
          </a:p>
          <a:p>
            <a:pPr algn="just"/>
            <a:r>
              <a:rPr lang="en-US" sz="2400" dirty="0"/>
              <a:t>4. As the angle of parking space increases, so does the required space allocated to aisles.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457200"/>
            <a:ext cx="8077200" cy="2462213"/>
          </a:xfrm>
          <a:prstGeom prst="rect">
            <a:avLst/>
          </a:prstGeom>
        </p:spPr>
        <p:txBody>
          <a:bodyPr wrap="square">
            <a:spAutoFit/>
          </a:bodyPr>
          <a:lstStyle/>
          <a:p>
            <a:pPr algn="just"/>
            <a:r>
              <a:rPr lang="en-US" sz="2200" b="1" u="sng" dirty="0"/>
              <a:t>Example 4.1</a:t>
            </a:r>
          </a:p>
          <a:p>
            <a:pPr algn="just"/>
            <a:r>
              <a:rPr lang="en-US" sz="2200" dirty="0"/>
              <a:t>A new facility is to have 200 employees. A survey of similar facilities that one parking space must be provided for every two employees and that 40% of all automobiles driven to work are compact automobiles. Five percent of the spaces should be allocated for the handicapped. The available parking lot space is 180 ft and 200 ft deep. What is the best parking layout?</a:t>
            </a:r>
          </a:p>
        </p:txBody>
      </p:sp>
      <p:sp>
        <p:nvSpPr>
          <p:cNvPr id="5" name="Rectangle 4"/>
          <p:cNvSpPr/>
          <p:nvPr/>
        </p:nvSpPr>
        <p:spPr>
          <a:xfrm>
            <a:off x="533400" y="2819400"/>
            <a:ext cx="6705600" cy="461665"/>
          </a:xfrm>
          <a:prstGeom prst="rect">
            <a:avLst/>
          </a:prstGeom>
        </p:spPr>
        <p:txBody>
          <a:bodyPr wrap="square">
            <a:spAutoFit/>
          </a:bodyPr>
          <a:lstStyle/>
          <a:p>
            <a:r>
              <a:rPr lang="en-US" sz="2400" b="1" dirty="0"/>
              <a:t>4.2.2. Storage of Employees Personal Belongings</a:t>
            </a:r>
            <a:endParaRPr lang="en-US" sz="2400" dirty="0"/>
          </a:p>
        </p:txBody>
      </p:sp>
      <p:sp>
        <p:nvSpPr>
          <p:cNvPr id="6" name="Rectangle 5"/>
          <p:cNvSpPr/>
          <p:nvPr/>
        </p:nvSpPr>
        <p:spPr>
          <a:xfrm>
            <a:off x="609600" y="3429000"/>
            <a:ext cx="8077200" cy="2462213"/>
          </a:xfrm>
          <a:prstGeom prst="rect">
            <a:avLst/>
          </a:prstGeom>
        </p:spPr>
        <p:txBody>
          <a:bodyPr wrap="square">
            <a:spAutoFit/>
          </a:bodyPr>
          <a:lstStyle/>
          <a:p>
            <a:pPr algn="just"/>
            <a:r>
              <a:rPr lang="en-US" sz="2200" dirty="0"/>
              <a:t>A location for storage of employee personal belongings should be provided between the employee entrance and work area.  Employees typically store lunches, briefcases, and purses at their place of work.</a:t>
            </a:r>
          </a:p>
          <a:p>
            <a:pPr algn="just"/>
            <a:endParaRPr lang="en-US" sz="2200" dirty="0"/>
          </a:p>
          <a:p>
            <a:pPr algn="just"/>
            <a:r>
              <a:rPr lang="en-US" sz="2200" dirty="0"/>
              <a:t>For changing of clothes Lockers room is required. Some times it is not required as some times person need not to be worked in hazardous stage.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a:bodyPr>
          <a:lstStyle/>
          <a:p>
            <a:pPr algn="just"/>
            <a:r>
              <a:rPr lang="en-US" sz="2200" dirty="0"/>
              <a:t>If shower facilities are to be provided, they should be located in the locker room. Sinks and mirrors are also typically included there. If toilet facilities are to be included, they must be physically separated from the locker room area (should lunches be stored in the locker).</a:t>
            </a:r>
          </a:p>
        </p:txBody>
      </p:sp>
      <p:pic>
        <p:nvPicPr>
          <p:cNvPr id="1026" name="Picture 2"/>
          <p:cNvPicPr>
            <a:picLocks noChangeAspect="1" noChangeArrowheads="1"/>
          </p:cNvPicPr>
          <p:nvPr/>
        </p:nvPicPr>
        <p:blipFill>
          <a:blip r:embed="rId2"/>
          <a:srcRect/>
          <a:stretch>
            <a:fillRect/>
          </a:stretch>
        </p:blipFill>
        <p:spPr bwMode="auto">
          <a:xfrm>
            <a:off x="914400" y="1905000"/>
            <a:ext cx="7467600" cy="41148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4.3. Restrooms</a:t>
            </a:r>
            <a:endParaRPr lang="en-US" dirty="0"/>
          </a:p>
        </p:txBody>
      </p:sp>
      <p:sp>
        <p:nvSpPr>
          <p:cNvPr id="3" name="Content Placeholder 2"/>
          <p:cNvSpPr>
            <a:spLocks noGrp="1"/>
          </p:cNvSpPr>
          <p:nvPr>
            <p:ph idx="1"/>
          </p:nvPr>
        </p:nvSpPr>
        <p:spPr>
          <a:xfrm>
            <a:off x="152400" y="990600"/>
            <a:ext cx="3429000" cy="5562600"/>
          </a:xfrm>
        </p:spPr>
        <p:txBody>
          <a:bodyPr>
            <a:normAutofit/>
          </a:bodyPr>
          <a:lstStyle/>
          <a:p>
            <a:pPr algn="just"/>
            <a:r>
              <a:rPr lang="en-US" sz="2000" dirty="0"/>
              <a:t>A restroom should be located within 200 ft of every permanent workstation. Decentralized restrooms often provide greater employee convenience than large, centralized restrooms. Access to restrooms must be available to handicapped employees. Hence, some restrooms must be at ground level.</a:t>
            </a:r>
          </a:p>
        </p:txBody>
      </p:sp>
      <p:pic>
        <p:nvPicPr>
          <p:cNvPr id="2050" name="Picture 2"/>
          <p:cNvPicPr>
            <a:picLocks noChangeAspect="1" noChangeArrowheads="1"/>
          </p:cNvPicPr>
          <p:nvPr/>
        </p:nvPicPr>
        <p:blipFill>
          <a:blip r:embed="rId2"/>
          <a:srcRect/>
          <a:stretch>
            <a:fillRect/>
          </a:stretch>
        </p:blipFill>
        <p:spPr bwMode="auto">
          <a:xfrm>
            <a:off x="3733800" y="838200"/>
            <a:ext cx="5114925" cy="56388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560</TotalTime>
  <Words>569</Words>
  <Application>Microsoft Office PowerPoint</Application>
  <PresentationFormat>On-screen Show (4:3)</PresentationFormat>
  <Paragraphs>41</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Personal Requirement</vt:lpstr>
      <vt:lpstr>4.1 Introduction</vt:lpstr>
      <vt:lpstr>PowerPoint Presentation</vt:lpstr>
      <vt:lpstr>PowerPoint Presentation</vt:lpstr>
      <vt:lpstr>PowerPoint Presentation</vt:lpstr>
      <vt:lpstr>PowerPoint Presentation</vt:lpstr>
      <vt:lpstr>4.3. Restrooms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Rehan</dc:creator>
  <cp:lastModifiedBy>Syed Rehan Ashraf</cp:lastModifiedBy>
  <cp:revision>35</cp:revision>
  <dcterms:created xsi:type="dcterms:W3CDTF">2017-09-20T18:09:51Z</dcterms:created>
  <dcterms:modified xsi:type="dcterms:W3CDTF">2025-12-23T10:06:27Z</dcterms:modified>
</cp:coreProperties>
</file>